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65" r:id="rId2"/>
    <p:sldId id="267" r:id="rId16"/>
    <p:sldId id="263" r:id="rId3"/>
    <p:sldId id="260" r:id="rId4"/>
    <p:sldId id="261" r:id="rId5"/>
    <p:sldId id="262" r:id="rId6"/>
    <p:sldId id="268" r:id="rId17"/>
    <p:sldId id="264" r:id="rId7"/>
    <p:sldId id="266" r:id="rId8"/>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E9453B-22E6-4743-B5D7-712A7447EFE8}" v="9" dt="2024-09-26T16:39:58.074"/>
    <p1510:client id="{55709035-28FA-7E40-A30D-814D508C6C7C}" v="4" dt="2024-09-26T10:52:55.698"/>
    <p1510:client id="{B3CDC390-7130-46FB-8A42-AAD3129DA02B}" v="1" dt="2024-09-27T06:58:38.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43"/>
  </p:normalViewPr>
  <p:slideViewPr>
    <p:cSldViewPr snapToGrid="0">
      <p:cViewPr varScale="1">
        <p:scale>
          <a:sx n="110" d="100"/>
          <a:sy n="110" d="100"/>
        </p:scale>
        <p:origin x="824" y="176"/>
      </p:cViewPr>
      <p:guideLst/>
    </p:cSldViewPr>
  </p:slideViewPr>
  <p:notesTextViewPr>
    <p:cViewPr>
      <p:scale>
        <a:sx n="1" d="1"/>
        <a:sy n="1" d="1"/>
      </p:scale>
      <p:origin x="0" y="0"/>
    </p:cViewPr>
  </p:notesTextViewPr>
  <p:notesViewPr>
    <p:cSldViewPr snapToGrid="0">
      <p:cViewPr varScale="1">
        <p:scale>
          <a:sx n="180" d="100"/>
          <a:sy n="180" d="100"/>
        </p:scale>
        <p:origin x="644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2.xml"/><Relationship Id="rId17"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AEFE95-336D-6656-CE66-C667D5C194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a:extLst>
              <a:ext uri="{FF2B5EF4-FFF2-40B4-BE49-F238E27FC236}">
                <a16:creationId xmlns:a16="http://schemas.microsoft.com/office/drawing/2014/main" id="{059F5DAF-2C7D-B74E-056E-6494B25E79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941043-7DE3-3B4B-8808-49144DD7CE95}" type="datetimeFigureOut">
              <a:rPr lang="en-IT" smtClean="0"/>
              <a:t>06/18/2026</a:t>
            </a:fld>
            <a:endParaRPr lang="en-IT"/>
          </a:p>
        </p:txBody>
      </p:sp>
      <p:sp>
        <p:nvSpPr>
          <p:cNvPr id="4" name="Footer Placeholder 3">
            <a:extLst>
              <a:ext uri="{FF2B5EF4-FFF2-40B4-BE49-F238E27FC236}">
                <a16:creationId xmlns:a16="http://schemas.microsoft.com/office/drawing/2014/main" id="{C3F05A19-DFEF-AFBF-5E26-C5DF1F52A7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5" name="Slide Number Placeholder 4">
            <a:extLst>
              <a:ext uri="{FF2B5EF4-FFF2-40B4-BE49-F238E27FC236}">
                <a16:creationId xmlns:a16="http://schemas.microsoft.com/office/drawing/2014/main" id="{D04C20FA-9626-1F48-EA1D-FBE3C30FC4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3DFE52-1AA1-EE47-8289-3D449B3E1441}" type="slidenum">
              <a:rPr lang="en-IT" smtClean="0"/>
              <a:t>‹N›</a:t>
            </a:fld>
            <a:endParaRPr lang="en-IT"/>
          </a:p>
        </p:txBody>
      </p:sp>
    </p:spTree>
    <p:extLst>
      <p:ext uri="{BB962C8B-B14F-4D97-AF65-F5344CB8AC3E}">
        <p14:creationId xmlns:p14="http://schemas.microsoft.com/office/powerpoint/2010/main" val="1973136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A48BC-43B7-DD4B-8D50-B5EC06F3FC3B}" type="datetimeFigureOut">
              <a:rPr lang="en-IT" smtClean="0"/>
              <a:t>06/18/2026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06172-85A0-534A-8C3D-5BC6742886F9}" type="slidenum">
              <a:rPr lang="en-IT" smtClean="0"/>
              <a:t>‹N›</a:t>
            </a:fld>
            <a:endParaRPr lang="en-IT"/>
          </a:p>
        </p:txBody>
      </p:sp>
    </p:spTree>
    <p:extLst>
      <p:ext uri="{BB962C8B-B14F-4D97-AF65-F5344CB8AC3E}">
        <p14:creationId xmlns:p14="http://schemas.microsoft.com/office/powerpoint/2010/main" val="2651689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addresses Sub-topic 3: applying AI to the modelling of electromagnetic problems. One full-wave simulation of the supplied coupler takes about 30 minutes, while the two tasks the challenge evaluates, sensitivity analysis and design, require thousands to millions of simulations. We present a single surrogate model, built from about 60 simulations, that replaces the solver for both tasks, respects the S-parameter physics on every prediction, and is validated against boards it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figures on this slide use only the solver cost confirmed by Huawei (30 minutes per run) and the supplied dataset. A standard Saltelli sensitivity analysis requires 13,312 runs, or 277 days of serial solver time; a design search over 961 candidate designs, each evaluated on 2,000 manufacturing realisations, would take about 110 years. The nominal design meets the illustrative limits, but its 0.25-0.40 dB margin is small compared with the 1.3 dB spread caused by manufacturing tolerances, so only about 30% of boards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surrogate is a kriging (Gaussian-process) model of the 11 tolerance parameters. Reciprocity is imposed by construction, and passivity is verified on every predicted S-matrix; Huawei confirmed that enforcing these S-parameter laws qualifies as physics-informed for this challenge. The validation results use models trained on the 540 supplied designs, excluding the held-out boards. A separate test with ten random 60-run training sets reproduced the pass-rate results within 1.7 to 3.3 points and identified the same two leading tolerances in every case. Polynomial-chaos and neural-network surrogates agree with kriging within 2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error of the sensitivity indices when both methods use the same 30 simulations, measured against a reference computed from all 540 simulations. Conventional Monte Carlo reaches 0.078, the kriging model 0.016, about five times lower; with 45 and 60 simulations the advantage is three to four times. Polynomial chaos and a neural network perform equivalently to kriging, so the gain is over the conventional approach named in the criterion. Right: the three leading tolerances per metric with 90% bootstrap intervals from 45 simulations. Board thickness and copper widths A7 and A3 dominate, and every interval contains the full-data value. These are the tolerances the design changes on slide 6 act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 solver time at 30 minutes per run, conventional workflow versus this pipeline. The design search evaluates 961 candidate designs, each on 2,000 simulated manufacturing realisations: 1.92 million surrogate evaluations, completed in about 5 minutes after the 60 training simulations. Even with 100 solver licences running in parallel, the conventional design search would still take about a year.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changes act on the tolerances identified on slide 4: a laminate with a higher dielectric constant (4.02), then halved tolerances on copper width A7, board thickness and copper width A3. For each scenario, the real boards falling inside it were removed from training, the model was retrained, and its predicted pass rate was compared with those boards. All five predictions fall within the 95% range of the real boards. The final scenario rests on 30 boards: the model predicts 85%, the real boards show 73%, and the difference is within sampling uncertainty, hence the range 73-85%. The acceptance limits are illustrative, and pass/fail agreement remains 92-97% when they are halved or tripled. The full-curve model checked all 734 million predicted S-matrices across every study, and none violated passivity. Remaining limitations: model bias cannot be separated from sampling noise with the available boards, the stack-up is confidential, and no additional solver runs were available to confirm the proposed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Kriging is well established for electromagnetic surrogate modelling, and closed-form Sobol indices from Gaussian processes are known in statistics. The contribution of this work lies in how these methods are applied and verified: physics is enforced at the port level because no field data were available, the literature's default compression (PCA) was tested and rejected on this data, and every result was validated against real boards held out from training rather than against additional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contains the code that reproduces every figure and number in this presentation, the stored results of each study, and a README describing the pipeline, the validation and the limitations. The Huawei dataset is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277 days of solver time are reduced to 15 hours, the 110-year design search to about 30 hours, and every one of 734 million predicted S-matrices satisfies the physical constraints.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Title Slide">
    <p:spTree>
      <p:nvGrpSpPr>
        <p:cNvPr id="1" name=""/>
        <p:cNvGrpSpPr/>
        <p:nvPr/>
      </p:nvGrpSpPr>
      <p:grpSpPr>
        <a:xfrm>
          <a:off x="0" y="0"/>
          <a:ext cx="0" cy="0"/>
          <a:chOff x="0" y="0"/>
          <a:chExt cx="0" cy="0"/>
        </a:xfrm>
      </p:grpSpPr>
      <p:pic>
        <p:nvPicPr>
          <p:cNvPr id="4" name="Picture 3" descr="A white background with hexagons&#10;&#10;Description automatically generated">
            <a:extLst>
              <a:ext uri="{FF2B5EF4-FFF2-40B4-BE49-F238E27FC236}">
                <a16:creationId xmlns:a16="http://schemas.microsoft.com/office/drawing/2014/main" id="{68F185F4-06DB-A0D2-98BD-7F2A6C969D2B}"/>
              </a:ext>
            </a:extLst>
          </p:cNvPr>
          <p:cNvPicPr>
            <a:picLocks noChangeAspect="1"/>
          </p:cNvPicPr>
          <p:nvPr userDrawn="1"/>
        </p:nvPicPr>
        <p:blipFill>
          <a:blip r:embed="rId2"/>
          <a:srcRect l="5535" r="5535"/>
          <a:stretch/>
        </p:blipFill>
        <p:spPr>
          <a:xfrm>
            <a:off x="0" y="0"/>
            <a:ext cx="12192000" cy="6858000"/>
          </a:xfrm>
          <a:prstGeom prst="rect">
            <a:avLst/>
          </a:prstGeom>
        </p:spPr>
      </p:pic>
      <p:sp>
        <p:nvSpPr>
          <p:cNvPr id="2" name="Title 1">
            <a:extLst>
              <a:ext uri="{FF2B5EF4-FFF2-40B4-BE49-F238E27FC236}">
                <a16:creationId xmlns:a16="http://schemas.microsoft.com/office/drawing/2014/main" id="{016D01ED-C930-5004-42CE-54A45354FB95}"/>
              </a:ext>
            </a:extLst>
          </p:cNvPr>
          <p:cNvSpPr>
            <a:spLocks noGrp="1"/>
          </p:cNvSpPr>
          <p:nvPr>
            <p:ph type="ctrTitle"/>
          </p:nvPr>
        </p:nvSpPr>
        <p:spPr>
          <a:xfrm>
            <a:off x="1524000" y="4452729"/>
            <a:ext cx="9144000" cy="703153"/>
          </a:xfrm>
        </p:spPr>
        <p:txBody>
          <a:bodyPr anchor="ctr">
            <a:normAutofit/>
          </a:bodyPr>
          <a:lstStyle>
            <a:lvl1pPr algn="ctr">
              <a:defRPr sz="3200"/>
            </a:lvl1pPr>
          </a:lstStyle>
          <a:p>
            <a:r>
              <a:rPr lang="en-GB" dirty="0"/>
              <a:t>Click to edit Master title style</a:t>
            </a:r>
            <a:endParaRPr lang="en-IT" dirty="0"/>
          </a:p>
        </p:txBody>
      </p:sp>
      <p:sp>
        <p:nvSpPr>
          <p:cNvPr id="5" name="Footer Placeholder 4">
            <a:extLst>
              <a:ext uri="{FF2B5EF4-FFF2-40B4-BE49-F238E27FC236}">
                <a16:creationId xmlns:a16="http://schemas.microsoft.com/office/drawing/2014/main" id="{ADECA286-79EA-82C6-39E8-61C19320A843}"/>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E0C1843C-1C17-9E80-0172-045C1372F1E3}"/>
              </a:ext>
            </a:extLst>
          </p:cNvPr>
          <p:cNvSpPr>
            <a:spLocks noGrp="1"/>
          </p:cNvSpPr>
          <p:nvPr>
            <p:ph type="sldNum" sz="quarter" idx="12"/>
          </p:nvPr>
        </p:nvSpPr>
        <p:spPr/>
        <p:txBody>
          <a:bodyPr/>
          <a:lstStyle/>
          <a:p>
            <a:fld id="{BD1D32A2-C957-7B4B-85B1-BAB13D3C7546}" type="slidenum">
              <a:rPr lang="en-IT" smtClean="0"/>
              <a:t>‹N›</a:t>
            </a:fld>
            <a:endParaRPr lang="en-IT"/>
          </a:p>
        </p:txBody>
      </p:sp>
      <p:pic>
        <p:nvPicPr>
          <p:cNvPr id="7" name="Picture 6" descr="A black and orange logo&#10;&#10;Description automatically generated">
            <a:extLst>
              <a:ext uri="{FF2B5EF4-FFF2-40B4-BE49-F238E27FC236}">
                <a16:creationId xmlns:a16="http://schemas.microsoft.com/office/drawing/2014/main" id="{42BCF712-A15E-FC60-5928-83DAE7DF6985}"/>
              </a:ext>
            </a:extLst>
          </p:cNvPr>
          <p:cNvPicPr>
            <a:picLocks noChangeAspect="1"/>
          </p:cNvPicPr>
          <p:nvPr userDrawn="1"/>
        </p:nvPicPr>
        <p:blipFill>
          <a:blip r:embed="rId3"/>
          <a:srcRect b="33575"/>
          <a:stretch/>
        </p:blipFill>
        <p:spPr>
          <a:xfrm>
            <a:off x="2526621" y="1449976"/>
            <a:ext cx="7138757" cy="1544837"/>
          </a:xfrm>
          <a:prstGeom prst="rect">
            <a:avLst/>
          </a:prstGeom>
        </p:spPr>
      </p:pic>
      <p:sp>
        <p:nvSpPr>
          <p:cNvPr id="3" name="Title 1">
            <a:extLst>
              <a:ext uri="{FF2B5EF4-FFF2-40B4-BE49-F238E27FC236}">
                <a16:creationId xmlns:a16="http://schemas.microsoft.com/office/drawing/2014/main" id="{33F065C4-FE05-262F-3BAD-94D69C0E55B4}"/>
              </a:ext>
            </a:extLst>
          </p:cNvPr>
          <p:cNvSpPr txBox="1">
            <a:spLocks/>
          </p:cNvSpPr>
          <p:nvPr userDrawn="1"/>
        </p:nvSpPr>
        <p:spPr>
          <a:xfrm>
            <a:off x="5032267" y="2771744"/>
            <a:ext cx="2127463" cy="96103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kern="1200">
                <a:solidFill>
                  <a:schemeClr val="tx1"/>
                </a:solidFill>
                <a:latin typeface="Astronomus" pitchFamily="2" charset="0"/>
                <a:ea typeface="+mj-ea"/>
                <a:cs typeface="+mj-cs"/>
              </a:defRPr>
            </a:lvl1pPr>
          </a:lstStyle>
          <a:p>
            <a:r>
              <a:rPr lang="en-GB" sz="3200" dirty="0">
                <a:solidFill>
                  <a:schemeClr val="tx1">
                    <a:lumMod val="65000"/>
                    <a:lumOff val="35000"/>
                  </a:schemeClr>
                </a:solidFill>
              </a:rPr>
              <a:t>Italy</a:t>
            </a:r>
            <a:endParaRPr lang="en-IT" sz="1200" dirty="0">
              <a:solidFill>
                <a:schemeClr val="tx1">
                  <a:lumMod val="65000"/>
                  <a:lumOff val="35000"/>
                </a:schemeClr>
              </a:solidFill>
            </a:endParaRPr>
          </a:p>
        </p:txBody>
      </p:sp>
      <p:pic>
        <p:nvPicPr>
          <p:cNvPr id="8" name="Immagine 7">
            <a:extLst>
              <a:ext uri="{FF2B5EF4-FFF2-40B4-BE49-F238E27FC236}">
                <a16:creationId xmlns:a16="http://schemas.microsoft.com/office/drawing/2014/main" id="{FD600A50-41C1-59B4-BA1D-60DB3F57C0F8}"/>
              </a:ext>
            </a:extLst>
          </p:cNvPr>
          <p:cNvPicPr>
            <a:picLocks noChangeAspect="1"/>
          </p:cNvPicPr>
          <p:nvPr userDrawn="1"/>
        </p:nvPicPr>
        <p:blipFill>
          <a:blip r:embed="rId4"/>
          <a:stretch>
            <a:fillRect/>
          </a:stretch>
        </p:blipFill>
        <p:spPr>
          <a:xfrm>
            <a:off x="10082063" y="6335486"/>
            <a:ext cx="1281498" cy="365124"/>
          </a:xfrm>
          <a:prstGeom prst="rect">
            <a:avLst/>
          </a:prstGeom>
        </p:spPr>
      </p:pic>
    </p:spTree>
    <p:extLst>
      <p:ext uri="{BB962C8B-B14F-4D97-AF65-F5344CB8AC3E}">
        <p14:creationId xmlns:p14="http://schemas.microsoft.com/office/powerpoint/2010/main" val="3841564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2CD2-5EEB-C6F0-FCD5-53372D973553}"/>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DD82D40F-FB5E-8152-1630-A4B8849602C2}"/>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IT" dirty="0"/>
          </a:p>
        </p:txBody>
      </p:sp>
      <p:sp>
        <p:nvSpPr>
          <p:cNvPr id="5" name="Footer Placeholder 4">
            <a:extLst>
              <a:ext uri="{FF2B5EF4-FFF2-40B4-BE49-F238E27FC236}">
                <a16:creationId xmlns:a16="http://schemas.microsoft.com/office/drawing/2014/main" id="{74118BBE-3B49-358B-67DB-B498AE904F18}"/>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3341C727-C7CF-08D6-731A-80578975CB64}"/>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11012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A81E-24C8-20BC-F5E7-2C4CFF87D5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BA20B1ED-6915-6E9D-7FA2-1A8A1E4635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9C44F733-A443-1D1C-4084-70B6F614D06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FEE7DD18-7CF5-CB61-063C-A95C2677DED8}"/>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2009929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0CB6-16DF-F6C4-63D3-322C7D3A3148}"/>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04CF1146-7924-7E43-FC32-923E48906351}"/>
              </a:ext>
            </a:extLst>
          </p:cNvPr>
          <p:cNvSpPr>
            <a:spLocks noGrp="1"/>
          </p:cNvSpPr>
          <p:nvPr>
            <p:ph sz="half" idx="1"/>
          </p:nvPr>
        </p:nvSpPr>
        <p:spPr>
          <a:xfrm>
            <a:off x="838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a:extLst>
              <a:ext uri="{FF2B5EF4-FFF2-40B4-BE49-F238E27FC236}">
                <a16:creationId xmlns:a16="http://schemas.microsoft.com/office/drawing/2014/main" id="{61FD5195-A611-C9DA-6A6F-E5C942F8DF2C}"/>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9C85BB0B-C073-9357-6D22-13D0E634FAB5}"/>
              </a:ext>
            </a:extLst>
          </p:cNvPr>
          <p:cNvSpPr>
            <a:spLocks noGrp="1"/>
          </p:cNvSpPr>
          <p:nvPr>
            <p:ph type="sldNum" sz="quarter" idx="12"/>
          </p:nvPr>
        </p:nvSpPr>
        <p:spPr/>
        <p:txBody>
          <a:bodyPr/>
          <a:lstStyle/>
          <a:p>
            <a:fld id="{BD1D32A2-C957-7B4B-85B1-BAB13D3C7546}" type="slidenum">
              <a:rPr lang="en-IT" smtClean="0"/>
              <a:t>‹N›</a:t>
            </a:fld>
            <a:endParaRPr lang="en-IT"/>
          </a:p>
        </p:txBody>
      </p:sp>
      <p:sp>
        <p:nvSpPr>
          <p:cNvPr id="8" name="Picture Placeholder 2">
            <a:extLst>
              <a:ext uri="{FF2B5EF4-FFF2-40B4-BE49-F238E27FC236}">
                <a16:creationId xmlns:a16="http://schemas.microsoft.com/office/drawing/2014/main" id="{F1FD3CF5-DF71-7852-63FE-C141D8178139}"/>
              </a:ext>
            </a:extLst>
          </p:cNvPr>
          <p:cNvSpPr>
            <a:spLocks noGrp="1"/>
          </p:cNvSpPr>
          <p:nvPr>
            <p:ph type="pic" idx="13"/>
          </p:nvPr>
        </p:nvSpPr>
        <p:spPr>
          <a:xfrm>
            <a:off x="6172202" y="1825625"/>
            <a:ext cx="5183186"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Tree>
    <p:extLst>
      <p:ext uri="{BB962C8B-B14F-4D97-AF65-F5344CB8AC3E}">
        <p14:creationId xmlns:p14="http://schemas.microsoft.com/office/powerpoint/2010/main" val="4248151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F9D2-187D-4583-3870-094CA0F6B062}"/>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AEB288B3-30E8-BB4B-D96C-2AD14AA74425}"/>
              </a:ext>
            </a:extLst>
          </p:cNvPr>
          <p:cNvSpPr>
            <a:spLocks noGrp="1"/>
          </p:cNvSpPr>
          <p:nvPr>
            <p:ph type="body" idx="1"/>
          </p:nvPr>
        </p:nvSpPr>
        <p:spPr>
          <a:xfrm>
            <a:off x="839788" y="1681163"/>
            <a:ext cx="5157787"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25BAEF2F-417B-6E77-7700-EB20EB81F1B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B965B9FC-3711-D566-926A-7B3F3BAB3443}"/>
              </a:ext>
            </a:extLst>
          </p:cNvPr>
          <p:cNvSpPr>
            <a:spLocks noGrp="1"/>
          </p:cNvSpPr>
          <p:nvPr>
            <p:ph type="body" sz="quarter" idx="3"/>
          </p:nvPr>
        </p:nvSpPr>
        <p:spPr>
          <a:xfrm>
            <a:off x="6172200" y="1681163"/>
            <a:ext cx="5183188"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08D572B-C01D-3158-B978-6B79A6C25872}"/>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8" name="Footer Placeholder 7">
            <a:extLst>
              <a:ext uri="{FF2B5EF4-FFF2-40B4-BE49-F238E27FC236}">
                <a16:creationId xmlns:a16="http://schemas.microsoft.com/office/drawing/2014/main" id="{D273E8B5-D52F-C8AD-FCD2-2F61CBE7A90B}"/>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9" name="Slide Number Placeholder 8">
            <a:extLst>
              <a:ext uri="{FF2B5EF4-FFF2-40B4-BE49-F238E27FC236}">
                <a16:creationId xmlns:a16="http://schemas.microsoft.com/office/drawing/2014/main" id="{7C32C6C4-6F27-AC9F-2E6E-989B16D8908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2971150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14F1-102D-07B1-3E8C-8B06B954D789}"/>
              </a:ext>
            </a:extLst>
          </p:cNvPr>
          <p:cNvSpPr>
            <a:spLocks noGrp="1"/>
          </p:cNvSpPr>
          <p:nvPr>
            <p:ph type="title"/>
          </p:nvPr>
        </p:nvSpPr>
        <p:spPr/>
        <p:txBody>
          <a:bodyPr/>
          <a:lstStyle/>
          <a:p>
            <a:r>
              <a:rPr lang="en-GB"/>
              <a:t>Click to edit Master title style</a:t>
            </a:r>
            <a:endParaRPr lang="en-IT"/>
          </a:p>
        </p:txBody>
      </p:sp>
      <p:sp>
        <p:nvSpPr>
          <p:cNvPr id="4" name="Footer Placeholder 3">
            <a:extLst>
              <a:ext uri="{FF2B5EF4-FFF2-40B4-BE49-F238E27FC236}">
                <a16:creationId xmlns:a16="http://schemas.microsoft.com/office/drawing/2014/main" id="{B01EA98B-D0FE-F856-D696-451473850A57}"/>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5" name="Slide Number Placeholder 4">
            <a:extLst>
              <a:ext uri="{FF2B5EF4-FFF2-40B4-BE49-F238E27FC236}">
                <a16:creationId xmlns:a16="http://schemas.microsoft.com/office/drawing/2014/main" id="{496CBFDE-2EDD-D717-EBE3-476ECAEE692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556389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409FF5-1265-EE9E-5D7E-CA9112A46F68}"/>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4" name="Slide Number Placeholder 3">
            <a:extLst>
              <a:ext uri="{FF2B5EF4-FFF2-40B4-BE49-F238E27FC236}">
                <a16:creationId xmlns:a16="http://schemas.microsoft.com/office/drawing/2014/main" id="{B3DB7B3F-13E1-E9B6-2CB9-D2A52C13B974}"/>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3533457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8DAA-D051-6558-7781-F9C09810966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511A01E5-D061-81B2-5A9A-A9C5E172B2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39E0B0B3-00F2-21E5-9206-54ECCE0AE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5207C7CE-11DA-977F-66D6-7AA72C7F0405}"/>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CFD8EF9A-158C-E10F-242F-FCCAF48D165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77500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FC4E-4E85-BBB4-BC94-77AA494EC7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2EB88709-382C-8750-0D81-71BBEE9EE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6C997044-9FAC-3DF5-7FB4-FC5E0A907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B660EABE-177A-55E4-70C5-C1928A53C19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7DA4003A-B6F8-E01A-19CA-8C52C19E4912}"/>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59833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QR 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FC4E-4E85-BBB4-BC94-77AA494EC719}"/>
              </a:ext>
            </a:extLst>
          </p:cNvPr>
          <p:cNvSpPr>
            <a:spLocks noGrp="1"/>
          </p:cNvSpPr>
          <p:nvPr>
            <p:ph type="title" hasCustomPrompt="1"/>
          </p:nvPr>
        </p:nvSpPr>
        <p:spPr>
          <a:xfrm>
            <a:off x="1171092" y="1503320"/>
            <a:ext cx="4924908" cy="530225"/>
          </a:xfrm>
        </p:spPr>
        <p:txBody>
          <a:bodyPr anchor="b"/>
          <a:lstStyle>
            <a:lvl1pPr>
              <a:defRPr sz="3200"/>
            </a:lvl1pPr>
          </a:lstStyle>
          <a:p>
            <a:r>
              <a:rPr lang="en-GB" dirty="0"/>
              <a:t>Folder</a:t>
            </a:r>
            <a:endParaRPr lang="en-IT" dirty="0"/>
          </a:p>
        </p:txBody>
      </p:sp>
      <p:sp>
        <p:nvSpPr>
          <p:cNvPr id="3" name="Picture Placeholder 2">
            <a:extLst>
              <a:ext uri="{FF2B5EF4-FFF2-40B4-BE49-F238E27FC236}">
                <a16:creationId xmlns:a16="http://schemas.microsoft.com/office/drawing/2014/main" id="{2EB88709-382C-8750-0D81-71BBEE9EE075}"/>
              </a:ext>
            </a:extLst>
          </p:cNvPr>
          <p:cNvSpPr>
            <a:spLocks noGrp="1"/>
          </p:cNvSpPr>
          <p:nvPr>
            <p:ph type="pic" idx="1" hasCustomPrompt="1"/>
          </p:nvPr>
        </p:nvSpPr>
        <p:spPr>
          <a:xfrm>
            <a:off x="6665443" y="1503321"/>
            <a:ext cx="4114800" cy="38036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IT" dirty="0"/>
              <a:t>Click to add QR Picture</a:t>
            </a:r>
          </a:p>
        </p:txBody>
      </p:sp>
      <p:sp>
        <p:nvSpPr>
          <p:cNvPr id="4" name="Text Placeholder 3">
            <a:extLst>
              <a:ext uri="{FF2B5EF4-FFF2-40B4-BE49-F238E27FC236}">
                <a16:creationId xmlns:a16="http://schemas.microsoft.com/office/drawing/2014/main" id="{6C997044-9FAC-3DF5-7FB4-FC5E0A907BAF}"/>
              </a:ext>
            </a:extLst>
          </p:cNvPr>
          <p:cNvSpPr>
            <a:spLocks noGrp="1"/>
          </p:cNvSpPr>
          <p:nvPr>
            <p:ph type="body" sz="half" idx="2"/>
          </p:nvPr>
        </p:nvSpPr>
        <p:spPr>
          <a:xfrm>
            <a:off x="1171092" y="2401294"/>
            <a:ext cx="4924908" cy="29056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6" name="Footer Placeholder 5">
            <a:extLst>
              <a:ext uri="{FF2B5EF4-FFF2-40B4-BE49-F238E27FC236}">
                <a16:creationId xmlns:a16="http://schemas.microsoft.com/office/drawing/2014/main" id="{B660EABE-177A-55E4-70C5-C1928A53C19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7DA4003A-B6F8-E01A-19CA-8C52C19E4912}"/>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99238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IN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69D3E1-7B14-D577-A26F-F05E40CD1E3F}"/>
              </a:ext>
            </a:extLst>
          </p:cNvPr>
          <p:cNvPicPr>
            <a:picLocks noChangeAspect="1"/>
          </p:cNvPicPr>
          <p:nvPr userDrawn="1"/>
        </p:nvPicPr>
        <p:blipFill>
          <a:blip r:embed="rId2"/>
          <a:stretch>
            <a:fillRect/>
          </a:stretch>
        </p:blipFill>
        <p:spPr>
          <a:xfrm>
            <a:off x="0" y="0"/>
            <a:ext cx="12192000" cy="6858001"/>
          </a:xfrm>
          <a:prstGeom prst="rect">
            <a:avLst/>
          </a:prstGeom>
        </p:spPr>
      </p:pic>
      <p:sp>
        <p:nvSpPr>
          <p:cNvPr id="2" name="Title 1">
            <a:extLst>
              <a:ext uri="{FF2B5EF4-FFF2-40B4-BE49-F238E27FC236}">
                <a16:creationId xmlns:a16="http://schemas.microsoft.com/office/drawing/2014/main" id="{016D01ED-C930-5004-42CE-54A45354FB95}"/>
              </a:ext>
            </a:extLst>
          </p:cNvPr>
          <p:cNvSpPr>
            <a:spLocks noGrp="1"/>
          </p:cNvSpPr>
          <p:nvPr>
            <p:ph type="ctrTitle" hasCustomPrompt="1"/>
          </p:nvPr>
        </p:nvSpPr>
        <p:spPr>
          <a:xfrm>
            <a:off x="1524000" y="3180521"/>
            <a:ext cx="9144000" cy="703153"/>
          </a:xfrm>
        </p:spPr>
        <p:txBody>
          <a:bodyPr anchor="ctr">
            <a:noAutofit/>
          </a:bodyPr>
          <a:lstStyle>
            <a:lvl1pPr algn="ctr">
              <a:defRPr sz="6000"/>
            </a:lvl1pPr>
          </a:lstStyle>
          <a:p>
            <a:r>
              <a:rPr lang="en-GB" dirty="0"/>
              <a:t>THANK YOU</a:t>
            </a:r>
            <a:endParaRPr lang="en-IT" dirty="0"/>
          </a:p>
        </p:txBody>
      </p:sp>
      <p:sp>
        <p:nvSpPr>
          <p:cNvPr id="5" name="Footer Placeholder 4">
            <a:extLst>
              <a:ext uri="{FF2B5EF4-FFF2-40B4-BE49-F238E27FC236}">
                <a16:creationId xmlns:a16="http://schemas.microsoft.com/office/drawing/2014/main" id="{ADECA286-79EA-82C6-39E8-61C19320A843}"/>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E0C1843C-1C17-9E80-0172-045C1372F1E3}"/>
              </a:ext>
            </a:extLst>
          </p:cNvPr>
          <p:cNvSpPr>
            <a:spLocks noGrp="1"/>
          </p:cNvSpPr>
          <p:nvPr>
            <p:ph type="sldNum" sz="quarter" idx="12"/>
          </p:nvPr>
        </p:nvSpPr>
        <p:spPr/>
        <p:txBody>
          <a:bodyPr/>
          <a:lstStyle/>
          <a:p>
            <a:fld id="{BD1D32A2-C957-7B4B-85B1-BAB13D3C7546}" type="slidenum">
              <a:rPr lang="en-IT" smtClean="0"/>
              <a:t>‹N›</a:t>
            </a:fld>
            <a:endParaRPr lang="en-IT"/>
          </a:p>
        </p:txBody>
      </p:sp>
      <p:pic>
        <p:nvPicPr>
          <p:cNvPr id="9" name="Picture 8" descr="A black and orange logo&#10;&#10;Description automatically generated">
            <a:extLst>
              <a:ext uri="{FF2B5EF4-FFF2-40B4-BE49-F238E27FC236}">
                <a16:creationId xmlns:a16="http://schemas.microsoft.com/office/drawing/2014/main" id="{F8CAD6EE-86F8-C39E-2122-A7020DE26DC7}"/>
              </a:ext>
            </a:extLst>
          </p:cNvPr>
          <p:cNvPicPr>
            <a:picLocks noChangeAspect="1"/>
          </p:cNvPicPr>
          <p:nvPr userDrawn="1"/>
        </p:nvPicPr>
        <p:blipFill>
          <a:blip r:embed="rId3"/>
          <a:srcRect b="39734"/>
          <a:stretch/>
        </p:blipFill>
        <p:spPr>
          <a:xfrm>
            <a:off x="4305300" y="1713685"/>
            <a:ext cx="3581400" cy="703153"/>
          </a:xfrm>
          <a:prstGeom prst="rect">
            <a:avLst/>
          </a:prstGeom>
        </p:spPr>
      </p:pic>
      <p:pic>
        <p:nvPicPr>
          <p:cNvPr id="3" name="Immagine 2">
            <a:extLst>
              <a:ext uri="{FF2B5EF4-FFF2-40B4-BE49-F238E27FC236}">
                <a16:creationId xmlns:a16="http://schemas.microsoft.com/office/drawing/2014/main" id="{95D218AD-5DA6-B502-C96A-C0ED82FB7397}"/>
              </a:ext>
            </a:extLst>
          </p:cNvPr>
          <p:cNvPicPr>
            <a:picLocks noChangeAspect="1"/>
          </p:cNvPicPr>
          <p:nvPr userDrawn="1"/>
        </p:nvPicPr>
        <p:blipFill>
          <a:blip r:embed="rId4"/>
          <a:stretch>
            <a:fillRect/>
          </a:stretch>
        </p:blipFill>
        <p:spPr>
          <a:xfrm>
            <a:off x="10082063" y="6324600"/>
            <a:ext cx="1281498" cy="365124"/>
          </a:xfrm>
          <a:prstGeom prst="rect">
            <a:avLst/>
          </a:prstGeom>
        </p:spPr>
      </p:pic>
    </p:spTree>
    <p:extLst>
      <p:ext uri="{BB962C8B-B14F-4D97-AF65-F5344CB8AC3E}">
        <p14:creationId xmlns:p14="http://schemas.microsoft.com/office/powerpoint/2010/main" val="13491556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A white hexagons on a grey background&#10;&#10;Description automatically generated">
            <a:extLst>
              <a:ext uri="{FF2B5EF4-FFF2-40B4-BE49-F238E27FC236}">
                <a16:creationId xmlns:a16="http://schemas.microsoft.com/office/drawing/2014/main" id="{636CE6D2-C646-0795-7FB6-948D9591C3A6}"/>
              </a:ext>
            </a:extLst>
          </p:cNvPr>
          <p:cNvPicPr>
            <a:picLocks noChangeAspect="1"/>
          </p:cNvPicPr>
          <p:nvPr userDrawn="1"/>
        </p:nvPicPr>
        <p:blipFill rotWithShape="1">
          <a:blip r:embed="rId13"/>
          <a:srcRect l="5535" r="5535"/>
          <a:stretch/>
        </p:blipFill>
        <p:spPr>
          <a:xfrm>
            <a:off x="-1" y="0"/>
            <a:ext cx="12192001" cy="6858000"/>
          </a:xfrm>
          <a:prstGeom prst="rect">
            <a:avLst/>
          </a:prstGeom>
        </p:spPr>
      </p:pic>
      <p:sp>
        <p:nvSpPr>
          <p:cNvPr id="2" name="Title Placeholder 1">
            <a:extLst>
              <a:ext uri="{FF2B5EF4-FFF2-40B4-BE49-F238E27FC236}">
                <a16:creationId xmlns:a16="http://schemas.microsoft.com/office/drawing/2014/main" id="{90D15A62-518B-455C-AA33-12CE63E8B0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IT" dirty="0"/>
          </a:p>
        </p:txBody>
      </p:sp>
      <p:sp>
        <p:nvSpPr>
          <p:cNvPr id="3" name="Text Placeholder 2">
            <a:extLst>
              <a:ext uri="{FF2B5EF4-FFF2-40B4-BE49-F238E27FC236}">
                <a16:creationId xmlns:a16="http://schemas.microsoft.com/office/drawing/2014/main" id="{C432D936-E096-5353-4ECA-35FF46E53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Footer Placeholder 4">
            <a:extLst>
              <a:ext uri="{FF2B5EF4-FFF2-40B4-BE49-F238E27FC236}">
                <a16:creationId xmlns:a16="http://schemas.microsoft.com/office/drawing/2014/main" id="{D11876FF-5F22-6347-B398-6480BD7BA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chemeClr val="tx1">
                    <a:tint val="82000"/>
                  </a:schemeClr>
                </a:solidFill>
                <a:latin typeface="Open Sans" pitchFamily="2" charset="0"/>
                <a:ea typeface="Open Sans" pitchFamily="2" charset="0"/>
                <a:cs typeface="Open Sans" pitchFamily="2" charset="0"/>
              </a:defRPr>
            </a:lvl1p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0961C5AF-0961-6B72-A8C1-3E042247F10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Open Sans" pitchFamily="2" charset="0"/>
                <a:ea typeface="Open Sans" pitchFamily="2" charset="0"/>
                <a:cs typeface="Open Sans" pitchFamily="2" charset="0"/>
              </a:defRPr>
            </a:lvl1pPr>
          </a:lstStyle>
          <a:p>
            <a:fld id="{BD1D32A2-C957-7B4B-85B1-BAB13D3C7546}" type="slidenum">
              <a:rPr lang="en-IT" smtClean="0"/>
              <a:pPr/>
              <a:t>‹N›</a:t>
            </a:fld>
            <a:endParaRPr lang="en-IT" dirty="0"/>
          </a:p>
        </p:txBody>
      </p:sp>
      <p:pic>
        <p:nvPicPr>
          <p:cNvPr id="4" name="Immagine 3">
            <a:extLst>
              <a:ext uri="{FF2B5EF4-FFF2-40B4-BE49-F238E27FC236}">
                <a16:creationId xmlns:a16="http://schemas.microsoft.com/office/drawing/2014/main" id="{52C1E1F1-A429-3FFC-7D81-B6E4919A6870}"/>
              </a:ext>
            </a:extLst>
          </p:cNvPr>
          <p:cNvPicPr>
            <a:picLocks noChangeAspect="1"/>
          </p:cNvPicPr>
          <p:nvPr userDrawn="1"/>
        </p:nvPicPr>
        <p:blipFill>
          <a:blip r:embed="rId14"/>
          <a:stretch>
            <a:fillRect/>
          </a:stretch>
        </p:blipFill>
        <p:spPr>
          <a:xfrm>
            <a:off x="10082063" y="6324600"/>
            <a:ext cx="1281498" cy="365124"/>
          </a:xfrm>
          <a:prstGeom prst="rect">
            <a:avLst/>
          </a:prstGeom>
        </p:spPr>
      </p:pic>
    </p:spTree>
    <p:extLst>
      <p:ext uri="{BB962C8B-B14F-4D97-AF65-F5344CB8AC3E}">
        <p14:creationId xmlns:p14="http://schemas.microsoft.com/office/powerpoint/2010/main" val="2998836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000" kern="1200">
          <a:solidFill>
            <a:schemeClr val="tx1"/>
          </a:solidFill>
          <a:latin typeface="Astronomus"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hyperlink" Target="https://github.com/BuseDuygun22/rf-tolerance-surrogat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FA285-FBAD-73E2-1BFB-AA6BFAF95355}"/>
              </a:ext>
            </a:extLst>
          </p:cNvPr>
          <p:cNvSpPr>
            <a:spLocks noGrp="1"/>
          </p:cNvSpPr>
          <p:nvPr>
            <p:ph type="ctrTitle"/>
          </p:nvPr>
        </p:nvSpPr>
        <p:spPr/>
        <p:txBody>
          <a:bodyPr/>
          <a:lstStyle/>
          <a:p>
            <a:r>
              <a:rPr sz="3000" b="1"/>
              <a:t>AI cuts RF tolerance analysis from 277 days to 15 hours</a:t>
            </a:r>
            <a:endParaRPr lang="en-IT"/>
          </a:p>
        </p:txBody>
      </p:sp>
      <p:sp>
        <p:nvSpPr>
          <p:cNvPr id="3" name="TextBox 2"/>
          <p:cNvSpPr txBox="1"/>
          <p:nvPr/>
        </p:nvSpPr>
        <p:spPr>
          <a:xfrm>
            <a:off x="1097280" y="5230368"/>
            <a:ext cx="9994392" cy="457200"/>
          </a:xfrm>
          <a:prstGeom prst="rect">
            <a:avLst/>
          </a:prstGeom>
          <a:noFill/>
        </p:spPr>
        <p:txBody>
          <a:bodyPr wrap="square">
            <a:spAutoFit/>
          </a:bodyPr>
          <a:lstStyle/>
          <a:p>
            <a:pPr algn="ctr"/>
            <a:r>
              <a:rPr sz="1700">
                <a:solidFill>
                  <a:srgbClr val="6B7378"/>
                </a:solidFill>
              </a:rPr>
              <a:t>Sub-topic 3  |  A physics-checked AI model that stands in for the full-wave solver</a:t>
            </a:r>
          </a:p>
        </p:txBody>
      </p:sp>
    </p:spTree>
    <p:extLst>
      <p:ext uri="{BB962C8B-B14F-4D97-AF65-F5344CB8AC3E}">
        <p14:creationId xmlns:p14="http://schemas.microsoft.com/office/powerpoint/2010/main" val="369327641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 tolerance study takes months to a century of solver time</a:t>
            </a:r>
          </a:p>
        </p:txBody>
      </p:sp>
      <p:pic>
        <p:nvPicPr>
          <p:cNvPr id="3" name="Picture 2" descr="Four figures: one full-wave simulation takes 30 minutes; a sensitivity analysis on the solver needs 13,312 runs, 277 days; a design search on the solver needs 1.92 million runs, 110 years; only 30 percent of boards pass today, because the 0.3 dB design margin is small against 1.3 dB of factory spread."/>
          <p:cNvPicPr>
            <a:picLocks noChangeAspect="1"/>
          </p:cNvPicPr>
          <p:nvPr/>
        </p:nvPicPr>
        <p:blipFill>
          <a:blip r:embed="rId2"/>
          <a:stretch>
            <a:fillRect/>
          </a:stretch>
        </p:blipFill>
        <p:spPr>
          <a:xfrm>
            <a:off x="841248" y="1828800"/>
            <a:ext cx="10515600" cy="3017520"/>
          </a:xfrm>
          <a:prstGeom prst="rect">
            <a:avLst/>
          </a:prstGeom>
        </p:spPr>
      </p:pic>
      <p:sp>
        <p:nvSpPr>
          <p:cNvPr id="4" name="TextBox 3"/>
          <p:cNvSpPr txBox="1"/>
          <p:nvPr/>
        </p:nvSpPr>
        <p:spPr>
          <a:xfrm>
            <a:off x="841248" y="5257800"/>
            <a:ext cx="10515600" cy="457200"/>
          </a:xfrm>
          <a:prstGeom prst="rect">
            <a:avLst/>
          </a:prstGeom>
          <a:noFill/>
        </p:spPr>
        <p:txBody>
          <a:bodyPr wrap="square" lIns="0" rIns="0">
            <a:spAutoFit/>
          </a:bodyPr>
          <a:lstStyle/>
          <a:p>
            <a:r>
              <a:rPr sz="1700" b="1">
                <a:solidFill>
                  <a:srgbClr val="D9480F"/>
                </a:solidFill>
              </a:rPr>
              <a:t>Finding and fixing the causes with the solver alone is not affordable.</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8B5E-16A8-A7DC-674F-F07333D8010B}"/>
              </a:ext>
            </a:extLst>
          </p:cNvPr>
          <p:cNvSpPr>
            <a:spLocks noGrp="1"/>
          </p:cNvSpPr>
          <p:nvPr>
            <p:ph type="title"/>
          </p:nvPr>
        </p:nvSpPr>
        <p:spPr/>
        <p:txBody>
          <a:bodyPr/>
          <a:lstStyle/>
          <a:p>
            <a:r>
              <a:rPr sz="3000" b="1"/>
              <a:t>One AI model, trained on 60 simulations, replaces the solver</a:t>
            </a:r>
          </a:p>
        </p:txBody>
      </p:sp>
      <p:sp>
        <p:nvSpPr>
          <p:cNvPr id="3" name="Content Placeholder 2">
            <a:extLst>
              <a:ext uri="{FF2B5EF4-FFF2-40B4-BE49-F238E27FC236}">
                <a16:creationId xmlns:a16="http://schemas.microsoft.com/office/drawing/2014/main" id="{9E89F308-BB28-3D1F-4570-E15FBDB74BB3}"/>
              </a:ext>
            </a:extLst>
          </p:cNvPr>
          <p:cNvSpPr>
            <a:spLocks noGrp="1"/>
          </p:cNvSpPr>
          <p:nvPr>
            <p:ph sz="half" idx="1"/>
          </p:nvPr>
        </p:nvSpPr>
        <p:spPr/>
        <p:txBody>
          <a:bodyPr wrap="square"/>
          <a:lstStyle/>
          <a:p>
            <a:pPr>
              <a:spcAft>
                <a:spcPts val="1600"/>
              </a:spcAft>
            </a:pPr>
            <a:r>
              <a:rPr sz="1700" b="0"/>
              <a:t>Learns how the 11 manufacturing tolerances shape the S-parameters.</a:t>
            </a:r>
            <a:endParaRPr lang="en-IT"/>
          </a:p>
          <a:p>
            <a:pPr>
              <a:spcAft>
                <a:spcPts val="1600"/>
              </a:spcAft>
            </a:pPr>
            <a:r>
              <a:rPr sz="1700" b="0"/>
              <a:t>Obeys the physics: reciprocity built in, passivity checked on every prediction.</a:t>
            </a:r>
          </a:p>
          <a:p>
            <a:pPr>
              <a:spcAft>
                <a:spcPts val="1600"/>
              </a:spcAft>
            </a:pPr>
            <a:r>
              <a:rPr sz="1700" b="0"/>
              <a:t>60 simulations are enough: ten random 60-simulation models match the full-data results within about 3 points.</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pic>
        <p:nvPicPr>
          <p:cNvPr id="7" name="Picture 6" descr="How it works: 60 full-wave simulations train an AI model (kriging) that predicts every S-parameter in milliseconds, with reciprocity built in and passivity checked. The model feeds two tasks: sensitivity analysis (KPI 2) and design search (KPI 1)."/>
          <p:cNvPicPr>
            <a:picLocks noChangeAspect="1"/>
          </p:cNvPicPr>
          <p:nvPr/>
        </p:nvPicPr>
        <p:blipFill>
          <a:blip r:embed="rId2"/>
          <a:stretch>
            <a:fillRect/>
          </a:stretch>
        </p:blipFill>
        <p:spPr>
          <a:xfrm>
            <a:off x="6172200" y="1828800"/>
            <a:ext cx="5184648" cy="4352544"/>
          </a:xfrm>
          <a:prstGeom prst="rect">
            <a:avLst/>
          </a:prstGeom>
        </p:spPr>
      </p:pic>
    </p:spTree>
    <p:extLst>
      <p:ext uri="{BB962C8B-B14F-4D97-AF65-F5344CB8AC3E}">
        <p14:creationId xmlns:p14="http://schemas.microsoft.com/office/powerpoint/2010/main" val="3326653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6198-F809-C67F-8A79-8BDF13E19E32}"/>
              </a:ext>
            </a:extLst>
          </p:cNvPr>
          <p:cNvSpPr>
            <a:spLocks noGrp="1"/>
          </p:cNvSpPr>
          <p:nvPr>
            <p:ph type="title"/>
          </p:nvPr>
        </p:nvSpPr>
        <p:spPr/>
        <p:txBody>
          <a:bodyPr/>
          <a:lstStyle/>
          <a:p>
            <a:r>
              <a:rPr sz="2800" b="1"/>
              <a:t>Thirty simulations find the tolerances that matter, with 5× lower error</a:t>
            </a:r>
          </a:p>
        </p:txBody>
      </p:sp>
      <p:sp>
        <p:nvSpPr>
          <p:cNvPr id="5" name="Footer Placeholder 4">
            <a:extLst>
              <a:ext uri="{FF2B5EF4-FFF2-40B4-BE49-F238E27FC236}">
                <a16:creationId xmlns:a16="http://schemas.microsoft.com/office/drawing/2014/main" id="{B44173BD-035C-5A1B-92DF-F652BC8A6F93}"/>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984EB7A1-13A5-6D33-2B55-42E6C89513B9}"/>
              </a:ext>
            </a:extLst>
          </p:cNvPr>
          <p:cNvSpPr>
            <a:spLocks noGrp="1"/>
          </p:cNvSpPr>
          <p:nvPr>
            <p:ph type="sldNum" sz="quarter" idx="12"/>
          </p:nvPr>
        </p:nvSpPr>
        <p:spPr/>
        <p:txBody>
          <a:bodyPr/>
          <a:lstStyle/>
          <a:p>
            <a:fld id="{BD1D32A2-C957-7B4B-85B1-BAB13D3C7546}" type="slidenum">
              <a:rPr lang="en-IT" smtClean="0"/>
              <a:t>3</a:t>
            </a:fld>
            <a:endParaRPr lang="en-IT"/>
          </a:p>
        </p:txBody>
      </p:sp>
      <p:pic>
        <p:nvPicPr>
          <p:cNvPr id="7" name="Picture 6" descr="Bar chart, sensitivity analysis from the same 30 simulations: conventional Monte Carlo error 0.078, this project 0.016, five times lower. Polynomial chaos and a neural network reach the same accuracy as kriging."/>
          <p:cNvPicPr>
            <a:picLocks noChangeAspect="1"/>
          </p:cNvPicPr>
          <p:nvPr/>
        </p:nvPicPr>
        <p:blipFill>
          <a:blip r:embed="rId2"/>
          <a:stretch>
            <a:fillRect/>
          </a:stretch>
        </p:blipFill>
        <p:spPr>
          <a:xfrm>
            <a:off x="841248" y="1828800"/>
            <a:ext cx="5184648" cy="3886200"/>
          </a:xfrm>
          <a:prstGeom prst="rect">
            <a:avLst/>
          </a:prstGeom>
        </p:spPr>
      </p:pic>
      <p:pic>
        <p:nvPicPr>
          <p:cNvPr id="8" name="Picture 7" descr="Leading sensitivity drivers for reflection, coupling and isolation from 45 real runs with 90 percent bootstrap intervals. Board thickness and copper widths A7 and A3 dominate. All nine intervals contain the value from all 540 runs."/>
          <p:cNvPicPr>
            <a:picLocks noChangeAspect="1"/>
          </p:cNvPicPr>
          <p:nvPr/>
        </p:nvPicPr>
        <p:blipFill>
          <a:blip r:embed="rId3"/>
          <a:stretch>
            <a:fillRect/>
          </a:stretch>
        </p:blipFill>
        <p:spPr>
          <a:xfrm>
            <a:off x="6172200" y="1828800"/>
            <a:ext cx="5184648" cy="3886200"/>
          </a:xfrm>
          <a:prstGeom prst="rect">
            <a:avLst/>
          </a:prstGeom>
        </p:spPr>
      </p:pic>
      <p:sp>
        <p:nvSpPr>
          <p:cNvPr id="9" name="TextBox 8"/>
          <p:cNvSpPr txBox="1"/>
          <p:nvPr/>
        </p:nvSpPr>
        <p:spPr>
          <a:xfrm>
            <a:off x="841248" y="5797296"/>
            <a:ext cx="10515600" cy="457200"/>
          </a:xfrm>
          <a:prstGeom prst="rect">
            <a:avLst/>
          </a:prstGeom>
          <a:noFill/>
        </p:spPr>
        <p:txBody>
          <a:bodyPr wrap="square" lIns="0" rIns="0">
            <a:spAutoFit/>
          </a:bodyPr>
          <a:lstStyle/>
          <a:p>
            <a:r>
              <a:rPr sz="1500" b="1">
                <a:solidFill>
                  <a:srgbClr val="D9480F"/>
                </a:solidFill>
              </a:rPr>
              <a:t>Board thickness and copper widths A7 and A3 drive most of the variation: the tolerances worth tightening.</a:t>
            </a:r>
          </a:p>
        </p:txBody>
      </p:sp>
    </p:spTree>
    <p:extLst>
      <p:ext uri="{BB962C8B-B14F-4D97-AF65-F5344CB8AC3E}">
        <p14:creationId xmlns:p14="http://schemas.microsoft.com/office/powerpoint/2010/main" val="4022037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153E-1120-2C31-4AEA-1B4B1401F7D4}"/>
              </a:ext>
            </a:extLst>
          </p:cNvPr>
          <p:cNvSpPr>
            <a:spLocks noGrp="1"/>
          </p:cNvSpPr>
          <p:nvPr>
            <p:ph type="title"/>
          </p:nvPr>
        </p:nvSpPr>
        <p:spPr/>
        <p:txBody>
          <a:bodyPr/>
          <a:lstStyle/>
          <a:p>
            <a:r>
              <a:rPr sz="3000" b="1"/>
              <a:t>A 110-year design search now takes 30 hours</a:t>
            </a:r>
          </a:p>
        </p:txBody>
      </p:sp>
      <p:sp>
        <p:nvSpPr>
          <p:cNvPr id="7" name="Footer Placeholder 6">
            <a:extLst>
              <a:ext uri="{FF2B5EF4-FFF2-40B4-BE49-F238E27FC236}">
                <a16:creationId xmlns:a16="http://schemas.microsoft.com/office/drawing/2014/main" id="{67C337C6-6105-A90E-C752-8C220D19233C}"/>
              </a:ext>
            </a:extLst>
          </p:cNvPr>
          <p:cNvSpPr>
            <a:spLocks noGrp="1"/>
          </p:cNvSpPr>
          <p:nvPr>
            <p:ph type="ftr" sz="quarter" idx="11"/>
          </p:nvPr>
        </p:nvSpPr>
        <p:spPr/>
        <p:txBody>
          <a:bodyPr/>
          <a:lstStyle/>
          <a:p>
            <a:r>
              <a:rPr lang="en-IT"/>
              <a:t>HUAWEI TECHARENA 2026</a:t>
            </a:r>
            <a:endParaRPr lang="en-IT" dirty="0"/>
          </a:p>
        </p:txBody>
      </p:sp>
      <p:sp>
        <p:nvSpPr>
          <p:cNvPr id="8" name="Slide Number Placeholder 7">
            <a:extLst>
              <a:ext uri="{FF2B5EF4-FFF2-40B4-BE49-F238E27FC236}">
                <a16:creationId xmlns:a16="http://schemas.microsoft.com/office/drawing/2014/main" id="{6FE8AD99-9FFB-4AD9-BC32-0A7F076B0E94}"/>
              </a:ext>
            </a:extLst>
          </p:cNvPr>
          <p:cNvSpPr>
            <a:spLocks noGrp="1"/>
          </p:cNvSpPr>
          <p:nvPr>
            <p:ph type="sldNum" sz="quarter" idx="12"/>
          </p:nvPr>
        </p:nvSpPr>
        <p:spPr/>
        <p:txBody>
          <a:bodyPr/>
          <a:lstStyle/>
          <a:p>
            <a:fld id="{BD1D32A2-C957-7B4B-85B1-BAB13D3C7546}" type="slidenum">
              <a:rPr lang="en-IT" smtClean="0"/>
              <a:t>4</a:t>
            </a:fld>
            <a:endParaRPr lang="en-IT"/>
          </a:p>
        </p:txBody>
      </p:sp>
      <p:pic>
        <p:nvPicPr>
          <p:cNvPr id="9" name="Picture 8" descr="Design search over 961 candidate designs, each tested on 2,000 virtual boards. Solver only: 110 years, 1.92 million simulations one after another. This project: 30 hours, 60 simulations to train the model, then 5 minutes of computing."/>
          <p:cNvPicPr>
            <a:picLocks noChangeAspect="1"/>
          </p:cNvPicPr>
          <p:nvPr/>
        </p:nvPicPr>
        <p:blipFill>
          <a:blip r:embed="rId2"/>
          <a:stretch>
            <a:fillRect/>
          </a:stretch>
        </p:blipFill>
        <p:spPr>
          <a:xfrm>
            <a:off x="841248" y="1828800"/>
            <a:ext cx="10515600" cy="3566160"/>
          </a:xfrm>
          <a:prstGeom prst="rect">
            <a:avLst/>
          </a:prstGeom>
        </p:spPr>
      </p:pic>
      <p:sp>
        <p:nvSpPr>
          <p:cNvPr id="10" name="TextBox 9"/>
          <p:cNvSpPr txBox="1"/>
          <p:nvPr/>
        </p:nvSpPr>
        <p:spPr>
          <a:xfrm>
            <a:off x="841248" y="5623560"/>
            <a:ext cx="10515600" cy="457200"/>
          </a:xfrm>
          <a:prstGeom prst="rect">
            <a:avLst/>
          </a:prstGeom>
          <a:noFill/>
        </p:spPr>
        <p:txBody>
          <a:bodyPr wrap="square" lIns="0" rIns="0">
            <a:spAutoFit/>
          </a:bodyPr>
          <a:lstStyle/>
          <a:p>
            <a:r>
              <a:rPr sz="1600" b="1">
                <a:solidFill>
                  <a:srgbClr val="D9480F"/>
                </a:solidFill>
              </a:rPr>
              <a:t>The same 60-simulation model also delivers the sensitivity analysis: no extra simulations needed.</a:t>
            </a:r>
          </a:p>
        </p:txBody>
      </p:sp>
    </p:spTree>
    <p:extLst>
      <p:ext uri="{BB962C8B-B14F-4D97-AF65-F5344CB8AC3E}">
        <p14:creationId xmlns:p14="http://schemas.microsoft.com/office/powerpoint/2010/main" val="3037575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20DD-3FF3-C0E0-9DF7-29E5FE062ABF}"/>
              </a:ext>
            </a:extLst>
          </p:cNvPr>
          <p:cNvSpPr>
            <a:spLocks noGrp="1"/>
          </p:cNvSpPr>
          <p:nvPr>
            <p:ph type="title"/>
          </p:nvPr>
        </p:nvSpPr>
        <p:spPr/>
        <p:txBody>
          <a:bodyPr/>
          <a:lstStyle/>
          <a:p>
            <a:r>
              <a:rPr sz="2400" b="1"/>
              <a:t>Four design changes lift the pass rate to 73–85%</a:t>
            </a:r>
          </a:p>
        </p:txBody>
      </p:sp>
      <p:sp>
        <p:nvSpPr>
          <p:cNvPr id="4" name="Text Placeholder 3">
            <a:extLst>
              <a:ext uri="{FF2B5EF4-FFF2-40B4-BE49-F238E27FC236}">
                <a16:creationId xmlns:a16="http://schemas.microsoft.com/office/drawing/2014/main" id="{BC6E9186-D440-0295-B65B-E50FEFECE669}"/>
              </a:ext>
            </a:extLst>
          </p:cNvPr>
          <p:cNvSpPr>
            <a:spLocks noGrp="1"/>
          </p:cNvSpPr>
          <p:nvPr>
            <p:ph type="body" sz="half" idx="2"/>
          </p:nvPr>
        </p:nvSpPr>
        <p:spPr/>
        <p:txBody>
          <a:bodyPr wrap="square"/>
          <a:lstStyle/>
          <a:p>
            <a:pPr>
              <a:spcAft>
                <a:spcPts val="1200"/>
              </a:spcAft>
            </a:pPr>
            <a:r>
              <a:rPr sz="1400" b="0"/>
              <a:t>Changes: higher laminate constant; tighter A7, board-thickness and A3 tolerances.</a:t>
            </a:r>
            <a:endParaRPr lang="en-IT"/>
          </a:p>
          <a:p>
            <a:pPr>
              <a:spcAft>
                <a:spcPts val="1200"/>
              </a:spcAft>
            </a:pPr>
            <a:r>
              <a:rPr sz="1400" b="0"/>
              <a:t>Each prediction was made without that scenario's real boards: 5 of 5 fall within the real range.</a:t>
            </a:r>
          </a:p>
          <a:p>
            <a:pPr>
              <a:spcAft>
                <a:spcPts val="1200"/>
              </a:spcAft>
            </a:pPr>
            <a:r>
              <a:rPr sz="1400" b="0"/>
              <a:t>Holds when the illustrative limits are halved or tripled (92–97% agreement).</a:t>
            </a:r>
          </a:p>
          <a:p>
            <a:pPr>
              <a:spcBef>
                <a:spcPts val="1000"/>
              </a:spcBef>
            </a:pPr>
            <a:r>
              <a:rPr sz="1500" b="1">
                <a:solidFill>
                  <a:srgbClr val="D9480F"/>
                </a:solidFill>
              </a:rPr>
              <a:t>0 of 734 million predictions break the physics (passivity).</a:t>
            </a:r>
          </a:p>
        </p:txBody>
      </p:sp>
      <p:sp>
        <p:nvSpPr>
          <p:cNvPr id="5" name="Footer Placeholder 4">
            <a:extLst>
              <a:ext uri="{FF2B5EF4-FFF2-40B4-BE49-F238E27FC236}">
                <a16:creationId xmlns:a16="http://schemas.microsoft.com/office/drawing/2014/main" id="{1E7DDCDB-96AF-7D95-FE79-EFE5333DF9C0}"/>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DD7EDF57-96BA-9AAC-D024-0A3E577F0338}"/>
              </a:ext>
            </a:extLst>
          </p:cNvPr>
          <p:cNvSpPr>
            <a:spLocks noGrp="1"/>
          </p:cNvSpPr>
          <p:nvPr>
            <p:ph type="sldNum" sz="quarter" idx="12"/>
          </p:nvPr>
        </p:nvSpPr>
        <p:spPr/>
        <p:txBody>
          <a:bodyPr/>
          <a:lstStyle/>
          <a:p>
            <a:fld id="{BD1D32A2-C957-7B4B-85B1-BAB13D3C7546}" type="slidenum">
              <a:rPr lang="en-IT" smtClean="0"/>
              <a:t>5</a:t>
            </a:fld>
            <a:endParaRPr lang="en-IT"/>
          </a:p>
        </p:txBody>
      </p:sp>
      <p:pic>
        <p:nvPicPr>
          <p:cNvPr id="7" name="Picture 6" descr="Bar chart of boards passing under stated limits, from the full-curve model retrained without each scenario's boards: today 30 percent, new laminate 47, plus copper width A7 tolerance halved 57, plus board thickness tolerance halved 65, plus copper width A3 tolerance halved 85. The real boards in each scenario give 28, 43, 54, 63 and 73 percent with intervals that contain every prediction."/>
          <p:cNvPicPr>
            <a:picLocks noChangeAspect="1"/>
          </p:cNvPicPr>
          <p:nvPr/>
        </p:nvPicPr>
        <p:blipFill>
          <a:blip r:embed="rId2"/>
          <a:stretch>
            <a:fillRect/>
          </a:stretch>
        </p:blipFill>
        <p:spPr>
          <a:xfrm>
            <a:off x="5184648" y="987552"/>
            <a:ext cx="6172200" cy="4873752"/>
          </a:xfrm>
          <a:prstGeom prst="rect">
            <a:avLst/>
          </a:prstGeom>
        </p:spPr>
      </p:pic>
    </p:spTree>
    <p:extLst>
      <p:ext uri="{BB962C8B-B14F-4D97-AF65-F5344CB8AC3E}">
        <p14:creationId xmlns:p14="http://schemas.microsoft.com/office/powerpoint/2010/main" val="159058226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Established methods, applied with physics checks and real-board validation</a:t>
            </a:r>
          </a:p>
        </p:txBody>
      </p:sp>
      <p:pic>
        <p:nvPicPr>
          <p:cNvPr id="3" name="Picture 2" descr="Comparison table, common practice versus this project. Surrogate: kriging is used in about a third of RF surrogate studies; here it is checked against polynomial chaos and a neural network. Output: the literature compresses the response first; here PCA raised the error 2.8 times, so all 3,012 outputs are predicted. Physics: physics-informed networks need field data; only port data exists, so reciprocity is built in and passivity checked on 734 million matrices. Sensitivity: closed-form GP Sobol indices are known; here applied to 11 manufacturing tolerances, leading tolerances found from 30 simulations. Pass rate: GP-assisted Monte Carlo re-checks boards in the solver; here no extra runs were allowed, so pass rates are checked against held-out real boards."/>
          <p:cNvPicPr>
            <a:picLocks noChangeAspect="1"/>
          </p:cNvPicPr>
          <p:nvPr/>
        </p:nvPicPr>
        <p:blipFill>
          <a:blip r:embed="rId2"/>
          <a:stretch>
            <a:fillRect/>
          </a:stretch>
        </p:blipFill>
        <p:spPr>
          <a:xfrm>
            <a:off x="841248" y="1600200"/>
            <a:ext cx="10515600" cy="3246120"/>
          </a:xfrm>
          <a:prstGeom prst="rect">
            <a:avLst/>
          </a:prstGeom>
        </p:spPr>
      </p:pic>
      <p:sp>
        <p:nvSpPr>
          <p:cNvPr id="4" name="TextBox 3"/>
          <p:cNvSpPr txBox="1"/>
          <p:nvPr/>
        </p:nvSpPr>
        <p:spPr>
          <a:xfrm>
            <a:off x="841248" y="5029200"/>
            <a:ext cx="5760720" cy="1097280"/>
          </a:xfrm>
          <a:prstGeom prst="rect">
            <a:avLst/>
          </a:prstGeom>
          <a:noFill/>
        </p:spPr>
        <p:txBody>
          <a:bodyPr wrap="square" lIns="0" rIns="0">
            <a:spAutoFit/>
          </a:bodyPr>
          <a:lstStyle/>
          <a:p>
            <a:pPr>
              <a:spcAft>
                <a:spcPts val="200"/>
              </a:spcAft>
            </a:pPr>
            <a:r>
              <a:rPr sz="1000">
                <a:solidFill>
                  <a:srgbClr val="3A3D40"/>
                </a:solidFill>
              </a:rPr>
              <a:t>[1] Oakley &amp; O'Hagan (2004), J. R. Stat. Soc. B 66(3)</a:t>
            </a:r>
          </a:p>
          <a:p>
            <a:pPr>
              <a:spcAft>
                <a:spcPts val="200"/>
              </a:spcAft>
            </a:pPr>
            <a:r>
              <a:rPr sz="1000">
                <a:solidFill>
                  <a:srgbClr val="3A3D40"/>
                </a:solidFill>
              </a:rPr>
              <a:t>[2] Marrel et al. (2009), Reliab. Eng. Syst. Saf. 94(3)</a:t>
            </a:r>
          </a:p>
          <a:p>
            <a:pPr>
              <a:spcAft>
                <a:spcPts val="200"/>
              </a:spcAft>
            </a:pPr>
            <a:r>
              <a:rPr sz="1000">
                <a:solidFill>
                  <a:srgbClr val="3A3D40"/>
                </a:solidFill>
              </a:rPr>
              <a:t>[3] Le Gratiet, Cannamela &amp; Iooss (2014), SIAM/ASA J. Uncertain. Quantif.</a:t>
            </a:r>
          </a:p>
          <a:p>
            <a:pPr>
              <a:spcAft>
                <a:spcPts val="200"/>
              </a:spcAft>
            </a:pPr>
            <a:r>
              <a:rPr sz="1000">
                <a:solidFill>
                  <a:srgbClr val="3A3D40"/>
                </a:solidFill>
              </a:rPr>
              <a:t>[4] Systematic review, surrogate-based EM design of RF components (2026), Sensors 26(8):2504</a:t>
            </a:r>
          </a:p>
        </p:txBody>
      </p:sp>
      <p:sp>
        <p:nvSpPr>
          <p:cNvPr id="5" name="TextBox 4"/>
          <p:cNvSpPr txBox="1"/>
          <p:nvPr/>
        </p:nvSpPr>
        <p:spPr>
          <a:xfrm>
            <a:off x="6812280" y="5029200"/>
            <a:ext cx="4544568" cy="1097280"/>
          </a:xfrm>
          <a:prstGeom prst="rect">
            <a:avLst/>
          </a:prstGeom>
          <a:noFill/>
        </p:spPr>
        <p:txBody>
          <a:bodyPr wrap="square" lIns="0" rIns="0">
            <a:spAutoFit/>
          </a:bodyPr>
          <a:lstStyle/>
          <a:p>
            <a:pPr>
              <a:spcAft>
                <a:spcPts val="200"/>
              </a:spcAft>
            </a:pPr>
            <a:r>
              <a:rPr sz="1000">
                <a:solidFill>
                  <a:srgbClr val="3A3D40"/>
                </a:solidFill>
              </a:rPr>
              <a:t>[5] Kersaudy et al. (2015), J. Comput. Phys. 286:103-117</a:t>
            </a:r>
          </a:p>
          <a:p>
            <a:pPr>
              <a:spcAft>
                <a:spcPts val="200"/>
              </a:spcAft>
            </a:pPr>
            <a:r>
              <a:rPr sz="1000">
                <a:solidFill>
                  <a:srgbClr val="3A3D40"/>
                </a:solidFill>
              </a:rPr>
              <a:t>[6] Khan &amp; Lowther (2022), IEEE Trans. Magn. 58(9)</a:t>
            </a:r>
          </a:p>
          <a:p>
            <a:pPr>
              <a:spcAft>
                <a:spcPts val="200"/>
              </a:spcAft>
            </a:pPr>
            <a:r>
              <a:rPr sz="1000">
                <a:solidFill>
                  <a:srgbClr val="3A3D40"/>
                </a:solidFill>
              </a:rPr>
              <a:t>[7] Fuhrländer &amp; Schöps (2020), J. Math. Ind. 10</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D2BB-2FBF-CB54-2FA5-90D38F44B392}"/>
              </a:ext>
            </a:extLst>
          </p:cNvPr>
          <p:cNvSpPr>
            <a:spLocks noGrp="1"/>
          </p:cNvSpPr>
          <p:nvPr>
            <p:ph type="title"/>
          </p:nvPr>
        </p:nvSpPr>
        <p:spPr/>
        <p:txBody>
          <a:bodyPr>
            <a:normAutofit fontScale="90000"/>
          </a:bodyPr>
          <a:lstStyle/>
          <a:p>
            <a:r>
              <a:rPr sz="2800" b="1"/>
              <a:t>Project folder</a:t>
            </a:r>
            <a:endParaRPr lang="en-IT" dirty="0"/>
          </a:p>
        </p:txBody>
      </p:sp>
      <p:sp>
        <p:nvSpPr>
          <p:cNvPr id="4" name="Text Placeholder 3">
            <a:extLst>
              <a:ext uri="{FF2B5EF4-FFF2-40B4-BE49-F238E27FC236}">
                <a16:creationId xmlns:a16="http://schemas.microsoft.com/office/drawing/2014/main" id="{ACBFCE97-20DE-0620-DC63-0DEA973E44B2}"/>
              </a:ext>
            </a:extLst>
          </p:cNvPr>
          <p:cNvSpPr>
            <a:spLocks noGrp="1"/>
          </p:cNvSpPr>
          <p:nvPr>
            <p:ph type="body" sz="half" idx="2"/>
          </p:nvPr>
        </p:nvSpPr>
        <p:spPr/>
        <p:txBody>
          <a:bodyPr wrap="square"/>
          <a:lstStyle/>
          <a:p>
            <a:pPr>
              <a:spcAft>
                <a:spcPts val="1000"/>
              </a:spcAft>
            </a:pPr>
            <a:r>
              <a:rPr sz="1600" b="0"/>
              <a:t>Scan to open the full material</a:t>
            </a:r>
            <a:endParaRPr lang="en-IT"/>
          </a:p>
          <a:p>
            <a:pPr>
              <a:spcAft>
                <a:spcPts val="1000"/>
              </a:spcAft>
            </a:pPr>
            <a:r>
              <a:rPr sz="1600" b="0"/>
              <a:t>README: pipeline, evidence and limitations</a:t>
            </a:r>
          </a:p>
          <a:p>
            <a:pPr>
              <a:spcAft>
                <a:spcPts val="1000"/>
              </a:spcAft>
            </a:pPr>
            <a:r>
              <a:rPr sz="1600" b="0"/>
              <a:t>Code that reproduces every number</a:t>
            </a:r>
          </a:p>
          <a:p>
            <a:pPr>
              <a:spcAft>
                <a:spcPts val="1000"/>
              </a:spcAft>
            </a:pPr>
            <a:r>
              <a:rPr sz="1600" b="0"/>
              <a:t>Stored results of every study</a:t>
            </a:r>
          </a:p>
        </p:txBody>
      </p:sp>
      <p:sp>
        <p:nvSpPr>
          <p:cNvPr id="5" name="Footer Placeholder 4">
            <a:extLst>
              <a:ext uri="{FF2B5EF4-FFF2-40B4-BE49-F238E27FC236}">
                <a16:creationId xmlns:a16="http://schemas.microsoft.com/office/drawing/2014/main" id="{D2413D42-14FC-6E96-EAE8-45D8843C13E4}"/>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0F978F75-8ADB-B57A-3E89-D1A803C59F01}"/>
              </a:ext>
            </a:extLst>
          </p:cNvPr>
          <p:cNvSpPr>
            <a:spLocks noGrp="1"/>
          </p:cNvSpPr>
          <p:nvPr>
            <p:ph type="sldNum" sz="quarter" idx="12"/>
          </p:nvPr>
        </p:nvSpPr>
        <p:spPr/>
        <p:txBody>
          <a:bodyPr/>
          <a:lstStyle/>
          <a:p>
            <a:fld id="{BD1D32A2-C957-7B4B-85B1-BAB13D3C7546}" type="slidenum">
              <a:rPr lang="en-IT" smtClean="0"/>
              <a:t>6</a:t>
            </a:fld>
            <a:endParaRPr lang="en-IT"/>
          </a:p>
        </p:txBody>
      </p:sp>
      <p:pic>
        <p:nvPicPr>
          <p:cNvPr id="7" name="Picture 6" descr="QR code linking to the project folder: https://github.com/BuseDuygun22/rf-tolerance-surrogates"/>
          <p:cNvPicPr>
            <a:picLocks noChangeAspect="1"/>
          </p:cNvPicPr>
          <p:nvPr/>
        </p:nvPicPr>
        <p:blipFill>
          <a:blip r:embed="rId3"/>
          <a:stretch>
            <a:fillRect/>
          </a:stretch>
        </p:blipFill>
        <p:spPr>
          <a:xfrm>
            <a:off x="6821424" y="1499616"/>
            <a:ext cx="3803904" cy="3803904"/>
          </a:xfrm>
          <a:prstGeom prst="rect">
            <a:avLst/>
          </a:prstGeom>
        </p:spPr>
      </p:pic>
      <p:sp>
        <p:nvSpPr>
          <p:cNvPr id="8" name="TextBox 7"/>
          <p:cNvSpPr txBox="1"/>
          <p:nvPr/>
        </p:nvSpPr>
        <p:spPr>
          <a:xfrm>
            <a:off x="1271016" y="4343400"/>
            <a:ext cx="5120640" cy="457200"/>
          </a:xfrm>
          <a:prstGeom prst="rect">
            <a:avLst/>
          </a:prstGeom>
          <a:noFill/>
        </p:spPr>
        <p:txBody>
          <a:bodyPr wrap="square" lIns="0">
            <a:spAutoFit/>
          </a:bodyPr>
          <a:lstStyle/>
          <a:p>
            <a:r>
              <a:rPr sz="1400" b="1">
                <a:solidFill>
                  <a:srgbClr val="D9480F"/>
                </a:solidFill>
                <a:hlinkClick r:id="rId4"/>
              </a:rPr>
              <a:t>github.com/BuseDuygun22/rf-tolerance-surrogates</a:t>
            </a:r>
          </a:p>
        </p:txBody>
      </p:sp>
    </p:spTree>
    <p:extLst>
      <p:ext uri="{BB962C8B-B14F-4D97-AF65-F5344CB8AC3E}">
        <p14:creationId xmlns:p14="http://schemas.microsoft.com/office/powerpoint/2010/main" val="2819410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DD9B0-0DF2-0C26-C3B3-42FC0897C99E}"/>
              </a:ext>
            </a:extLst>
          </p:cNvPr>
          <p:cNvSpPr>
            <a:spLocks noGrp="1"/>
          </p:cNvSpPr>
          <p:nvPr>
            <p:ph type="ctrTitle"/>
          </p:nvPr>
        </p:nvSpPr>
        <p:spPr>
          <a:xfrm>
            <a:off x="1524000" y="3490622"/>
            <a:ext cx="9144000" cy="703153"/>
          </a:xfrm>
        </p:spPr>
        <p:txBody>
          <a:bodyPr/>
          <a:lstStyle/>
          <a:p>
            <a:r>
              <a:rPr sz="4000" b="1"/>
              <a:t>THANK YOU</a:t>
            </a:r>
            <a:endParaRPr lang="en-IT" dirty="0"/>
          </a:p>
        </p:txBody>
      </p:sp>
      <p:sp>
        <p:nvSpPr>
          <p:cNvPr id="3" name="TextBox 2"/>
          <p:cNvSpPr txBox="1"/>
          <p:nvPr/>
        </p:nvSpPr>
        <p:spPr>
          <a:xfrm>
            <a:off x="1097280" y="4892040"/>
            <a:ext cx="9994392" cy="914400"/>
          </a:xfrm>
          <a:prstGeom prst="rect">
            <a:avLst/>
          </a:prstGeom>
          <a:noFill/>
        </p:spPr>
        <p:txBody>
          <a:bodyPr wrap="square">
            <a:spAutoFit/>
          </a:bodyPr>
          <a:lstStyle/>
          <a:p>
            <a:pPr algn="ctr"/>
            <a:r>
              <a:rPr sz="1600" b="1">
                <a:solidFill>
                  <a:srgbClr val="D9480F"/>
                </a:solidFill>
              </a:rPr>
              <a:t>From 277 days of solver time to 15 hours – with the physics checked on every prediction.</a:t>
            </a:r>
          </a:p>
          <a:p>
            <a:pPr algn="ctr"/>
            <a:r>
              <a:rPr sz="1300">
                <a:solidFill>
                  <a:srgbClr val="6B7378"/>
                </a:solidFill>
              </a:rPr>
              <a:t>60 simulations  ·  exact sensitivity analysis  ·  pass rates checked on held-out real boards</a:t>
            </a:r>
          </a:p>
        </p:txBody>
      </p:sp>
    </p:spTree>
    <p:extLst>
      <p:ext uri="{BB962C8B-B14F-4D97-AF65-F5344CB8AC3E}">
        <p14:creationId xmlns:p14="http://schemas.microsoft.com/office/powerpoint/2010/main" val="1423088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32</Words>
  <Application>Microsoft Office PowerPoint</Application>
  <PresentationFormat>Widescreen</PresentationFormat>
  <Paragraphs>14</Paragraphs>
  <Slides>7</Slides>
  <Notes>0</Notes>
  <HiddenSlides>0</HiddenSlides>
  <MMClips>0</MMClips>
  <ScaleCrop>false</ScaleCrop>
  <HeadingPairs>
    <vt:vector size="4" baseType="variant">
      <vt:variant>
        <vt:lpstr>Tema</vt:lpstr>
      </vt:variant>
      <vt:variant>
        <vt:i4>1</vt:i4>
      </vt:variant>
      <vt:variant>
        <vt:lpstr>Titoli diapositive</vt:lpstr>
      </vt:variant>
      <vt:variant>
        <vt:i4>7</vt:i4>
      </vt:variant>
    </vt:vector>
  </HeadingPairs>
  <TitlesOfParts>
    <vt:vector size="8" baseType="lpstr">
      <vt:lpstr>Office Theme</vt:lpstr>
      <vt:lpstr>Presentazione standard di PowerPoint</vt:lpstr>
      <vt:lpstr>Title And Content</vt:lpstr>
      <vt:lpstr>Title, content and picture</vt:lpstr>
      <vt:lpstr>Comparison</vt:lpstr>
      <vt:lpstr>Content with picture</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Franco</dc:creator>
  <cp:lastModifiedBy>Pietro Tuttobene</cp:lastModifiedBy>
  <cp:revision>7</cp:revision>
  <dcterms:created xsi:type="dcterms:W3CDTF">2024-09-26T09:51:43Z</dcterms:created>
  <dcterms:modified xsi:type="dcterms:W3CDTF">2026-06-18T09:33:23Z</dcterms:modified>
</cp:coreProperties>
</file>