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handoutMasterIdLst>
    <p:handoutMasterId r:id="rId10"/>
  </p:handoutMasterIdLst>
  <p:sldIdLst>
    <p:sldId id="265" r:id="rId2"/>
    <p:sldId id="267" r:id="rId16"/>
    <p:sldId id="263" r:id="rId3"/>
    <p:sldId id="260" r:id="rId4"/>
    <p:sldId id="261" r:id="rId5"/>
    <p:sldId id="262" r:id="rId6"/>
    <p:sldId id="268" r:id="rId17"/>
    <p:sldId id="264" r:id="rId7"/>
    <p:sldId id="266" r:id="rId8"/>
  </p:sldIdLst>
  <p:sldSz cx="12192000" cy="6858000"/>
  <p:notesSz cx="6858000" cy="9144000"/>
  <p:defaultText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E9453B-22E6-4743-B5D7-712A7447EFE8}" v="9" dt="2024-09-26T16:39:58.074"/>
    <p1510:client id="{55709035-28FA-7E40-A30D-814D508C6C7C}" v="4" dt="2024-09-26T10:52:55.698"/>
    <p1510:client id="{B3CDC390-7130-46FB-8A42-AAD3129DA02B}" v="1" dt="2024-09-27T06:58:38.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34"/>
    <p:restoredTop sz="94643"/>
  </p:normalViewPr>
  <p:slideViewPr>
    <p:cSldViewPr snapToGrid="0">
      <p:cViewPr varScale="1">
        <p:scale>
          <a:sx n="110" d="100"/>
          <a:sy n="110" d="100"/>
        </p:scale>
        <p:origin x="824" y="176"/>
      </p:cViewPr>
      <p:guideLst/>
    </p:cSldViewPr>
  </p:slideViewPr>
  <p:notesTextViewPr>
    <p:cViewPr>
      <p:scale>
        <a:sx n="1" d="1"/>
        <a:sy n="1" d="1"/>
      </p:scale>
      <p:origin x="0" y="0"/>
    </p:cViewPr>
  </p:notesTextViewPr>
  <p:notesViewPr>
    <p:cSldViewPr snapToGrid="0">
      <p:cViewPr varScale="1">
        <p:scale>
          <a:sx n="180" d="100"/>
          <a:sy n="180" d="100"/>
        </p:scale>
        <p:origin x="644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AEFE95-336D-6656-CE66-C667D5C1941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a:extLst>
              <a:ext uri="{FF2B5EF4-FFF2-40B4-BE49-F238E27FC236}">
                <a16:creationId xmlns:a16="http://schemas.microsoft.com/office/drawing/2014/main" id="{059F5DAF-2C7D-B74E-056E-6494B25E79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941043-7DE3-3B4B-8808-49144DD7CE95}" type="datetimeFigureOut">
              <a:rPr lang="en-IT" smtClean="0"/>
              <a:t>06/18/2026</a:t>
            </a:fld>
            <a:endParaRPr lang="en-IT"/>
          </a:p>
        </p:txBody>
      </p:sp>
      <p:sp>
        <p:nvSpPr>
          <p:cNvPr id="4" name="Footer Placeholder 3">
            <a:extLst>
              <a:ext uri="{FF2B5EF4-FFF2-40B4-BE49-F238E27FC236}">
                <a16:creationId xmlns:a16="http://schemas.microsoft.com/office/drawing/2014/main" id="{C3F05A19-DFEF-AFBF-5E26-C5DF1F52A7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5" name="Slide Number Placeholder 4">
            <a:extLst>
              <a:ext uri="{FF2B5EF4-FFF2-40B4-BE49-F238E27FC236}">
                <a16:creationId xmlns:a16="http://schemas.microsoft.com/office/drawing/2014/main" id="{D04C20FA-9626-1F48-EA1D-FBE3C30FC4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3DFE52-1AA1-EE47-8289-3D449B3E1441}" type="slidenum">
              <a:rPr lang="en-IT" smtClean="0"/>
              <a:t>‹N›</a:t>
            </a:fld>
            <a:endParaRPr lang="en-IT"/>
          </a:p>
        </p:txBody>
      </p:sp>
    </p:spTree>
    <p:extLst>
      <p:ext uri="{BB962C8B-B14F-4D97-AF65-F5344CB8AC3E}">
        <p14:creationId xmlns:p14="http://schemas.microsoft.com/office/powerpoint/2010/main" val="1973136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4A48BC-43B7-DD4B-8D50-B5EC06F3FC3B}" type="datetimeFigureOut">
              <a:rPr lang="en-IT" smtClean="0"/>
              <a:t>06/18/2026</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E06172-85A0-534A-8C3D-5BC6742886F9}" type="slidenum">
              <a:rPr lang="en-IT" smtClean="0"/>
              <a:t>‹N›</a:t>
            </a:fld>
            <a:endParaRPr lang="en-IT"/>
          </a:p>
        </p:txBody>
      </p:sp>
    </p:spTree>
    <p:extLst>
      <p:ext uri="{BB962C8B-B14F-4D97-AF65-F5344CB8AC3E}">
        <p14:creationId xmlns:p14="http://schemas.microsoft.com/office/powerpoint/2010/main" val="2651689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30 seconds. Competence: this team treated the S-parameter physics as a hard constraint on the model, not a hope. Relevance: one full-wave run takes 30 minutes, and the two things this challenge scores – sensitivity analysis and design search – both need thousands to millions of runs. Promise: today we show one model, trained on 60 runs, that stands in for both, checked against the physics and against boards it never saw.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stakes before showing the solution, about one minute. Every number here comes from the mentor-supplied solver cost (30 minutes per run) and from the dataset itself – nothing is a claim about our method yet. The margin tile is why it matters: the nominal design passes, but factory scatter is three to five times larger than its margin, so about 70% of boards fail the illustrative limits.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pipeline top to bottom. Be precise if asked: the validation numbers on slide 6 come from models trained on the 540 boards minus the held-out ones; the 60-run claim rests on a separate test in which ten random 60-run models gave the same pass-rate staircase within 1.7 to 3.3 points and the same top two tolerances every time. No extra solver runs were available, so for each scenario we removed its real boards, retrained, and compared – that is the last stage. Polynomial chaos and a neural network agree within 2 points, which shows robustness to model choice, not correctness by itself: they share the same boards.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reference is Monte Carlo on all 540 real runs; errors near 0.017 sit at that reference's own noise floor. Right: intervals shown for the three leading drivers only – near-zero indices give an unreliable bootstrap. Be upfront: our method ties polynomial chaos and a neural network here. The win is against conventional Monte Carlo, which is what the criterion asks for, and the closed-form indices remove sampling noise entirely.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Criterion 1 is the third row: 961 design points, each scored on 2,000 virtual manufacturing realizations, so 1.92 million surrogate evaluations in 5 minutes on a laptop. Say plainly that these are surrogate evaluations, and give the parallel caveat first.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 rates depend on limits we chose; the mentor confirmed the challenge is not about board performance, so the message is the method and its checks, not the number itself. Sources of uncertainty are identified, not added together: sampling of the real boards (about 6 to 15 points), training-set variation (about 1 point), and model bias, which the data cannot resolve. The last bar has 30 real boards; the 11-point gap sits inside its 95% interval, so call it consistent, not a confirmation. The physics check ran on the full 3,012-output model: every one of 733.7 million predicted S-matrices, across every full-curve study (leave-window-out, 5-fold, scenario staircase, 961-point design grid), stayed passive.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one Huawei's 2026-09-22 e-mail explicitly allows in addition to the 5-slide core. Keep it brief if asked live: the one-line version is "kriging is already the field's default for EM surrogates; the difference here is enforcing measurement-level physics because no field data existed, and checking every choice against this specific dataset rather than assuming the literature default (PCA) would transfer."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reserves this slide for a link to a folder. Share the code, README and report there. Do not put the Huawei dataset in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 line to remember: 277 days of solver time become 15 hours, and every one of 734 million predicted matrices obeys the physics. Then stop -- do not trail off into a plain thank-you.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 Title Slide">
    <p:spTree>
      <p:nvGrpSpPr>
        <p:cNvPr id="1" name=""/>
        <p:cNvGrpSpPr/>
        <p:nvPr/>
      </p:nvGrpSpPr>
      <p:grpSpPr>
        <a:xfrm>
          <a:off x="0" y="0"/>
          <a:ext cx="0" cy="0"/>
          <a:chOff x="0" y="0"/>
          <a:chExt cx="0" cy="0"/>
        </a:xfrm>
      </p:grpSpPr>
      <p:pic>
        <p:nvPicPr>
          <p:cNvPr id="4" name="Picture 3" descr="A white background with hexagons&#10;&#10;Description automatically generated">
            <a:extLst>
              <a:ext uri="{FF2B5EF4-FFF2-40B4-BE49-F238E27FC236}">
                <a16:creationId xmlns:a16="http://schemas.microsoft.com/office/drawing/2014/main" id="{68F185F4-06DB-A0D2-98BD-7F2A6C969D2B}"/>
              </a:ext>
            </a:extLst>
          </p:cNvPr>
          <p:cNvPicPr>
            <a:picLocks noChangeAspect="1"/>
          </p:cNvPicPr>
          <p:nvPr userDrawn="1"/>
        </p:nvPicPr>
        <p:blipFill>
          <a:blip r:embed="rId2"/>
          <a:srcRect l="5535" r="5535"/>
          <a:stretch/>
        </p:blipFill>
        <p:spPr>
          <a:xfrm>
            <a:off x="0" y="0"/>
            <a:ext cx="12192000" cy="6858000"/>
          </a:xfrm>
          <a:prstGeom prst="rect">
            <a:avLst/>
          </a:prstGeom>
        </p:spPr>
      </p:pic>
      <p:sp>
        <p:nvSpPr>
          <p:cNvPr id="2" name="Title 1">
            <a:extLst>
              <a:ext uri="{FF2B5EF4-FFF2-40B4-BE49-F238E27FC236}">
                <a16:creationId xmlns:a16="http://schemas.microsoft.com/office/drawing/2014/main" id="{016D01ED-C930-5004-42CE-54A45354FB95}"/>
              </a:ext>
            </a:extLst>
          </p:cNvPr>
          <p:cNvSpPr>
            <a:spLocks noGrp="1"/>
          </p:cNvSpPr>
          <p:nvPr>
            <p:ph type="ctrTitle"/>
          </p:nvPr>
        </p:nvSpPr>
        <p:spPr>
          <a:xfrm>
            <a:off x="1524000" y="4452729"/>
            <a:ext cx="9144000" cy="703153"/>
          </a:xfrm>
        </p:spPr>
        <p:txBody>
          <a:bodyPr anchor="ctr">
            <a:normAutofit/>
          </a:bodyPr>
          <a:lstStyle>
            <a:lvl1pPr algn="ctr">
              <a:defRPr sz="3200"/>
            </a:lvl1pPr>
          </a:lstStyle>
          <a:p>
            <a:r>
              <a:rPr lang="en-GB" dirty="0"/>
              <a:t>Click to edit Master title style</a:t>
            </a:r>
            <a:endParaRPr lang="en-IT" dirty="0"/>
          </a:p>
        </p:txBody>
      </p:sp>
      <p:sp>
        <p:nvSpPr>
          <p:cNvPr id="5" name="Footer Placeholder 4">
            <a:extLst>
              <a:ext uri="{FF2B5EF4-FFF2-40B4-BE49-F238E27FC236}">
                <a16:creationId xmlns:a16="http://schemas.microsoft.com/office/drawing/2014/main" id="{ADECA286-79EA-82C6-39E8-61C19320A843}"/>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E0C1843C-1C17-9E80-0172-045C1372F1E3}"/>
              </a:ext>
            </a:extLst>
          </p:cNvPr>
          <p:cNvSpPr>
            <a:spLocks noGrp="1"/>
          </p:cNvSpPr>
          <p:nvPr>
            <p:ph type="sldNum" sz="quarter" idx="12"/>
          </p:nvPr>
        </p:nvSpPr>
        <p:spPr/>
        <p:txBody>
          <a:bodyPr/>
          <a:lstStyle/>
          <a:p>
            <a:fld id="{BD1D32A2-C957-7B4B-85B1-BAB13D3C7546}" type="slidenum">
              <a:rPr lang="en-IT" smtClean="0"/>
              <a:t>‹N›</a:t>
            </a:fld>
            <a:endParaRPr lang="en-IT"/>
          </a:p>
        </p:txBody>
      </p:sp>
      <p:pic>
        <p:nvPicPr>
          <p:cNvPr id="7" name="Picture 6" descr="A black and orange logo&#10;&#10;Description automatically generated">
            <a:extLst>
              <a:ext uri="{FF2B5EF4-FFF2-40B4-BE49-F238E27FC236}">
                <a16:creationId xmlns:a16="http://schemas.microsoft.com/office/drawing/2014/main" id="{42BCF712-A15E-FC60-5928-83DAE7DF6985}"/>
              </a:ext>
            </a:extLst>
          </p:cNvPr>
          <p:cNvPicPr>
            <a:picLocks noChangeAspect="1"/>
          </p:cNvPicPr>
          <p:nvPr userDrawn="1"/>
        </p:nvPicPr>
        <p:blipFill>
          <a:blip r:embed="rId3"/>
          <a:srcRect b="33575"/>
          <a:stretch/>
        </p:blipFill>
        <p:spPr>
          <a:xfrm>
            <a:off x="2526621" y="1449976"/>
            <a:ext cx="7138757" cy="1544837"/>
          </a:xfrm>
          <a:prstGeom prst="rect">
            <a:avLst/>
          </a:prstGeom>
        </p:spPr>
      </p:pic>
      <p:sp>
        <p:nvSpPr>
          <p:cNvPr id="3" name="Title 1">
            <a:extLst>
              <a:ext uri="{FF2B5EF4-FFF2-40B4-BE49-F238E27FC236}">
                <a16:creationId xmlns:a16="http://schemas.microsoft.com/office/drawing/2014/main" id="{33F065C4-FE05-262F-3BAD-94D69C0E55B4}"/>
              </a:ext>
            </a:extLst>
          </p:cNvPr>
          <p:cNvSpPr txBox="1">
            <a:spLocks/>
          </p:cNvSpPr>
          <p:nvPr userDrawn="1"/>
        </p:nvSpPr>
        <p:spPr>
          <a:xfrm>
            <a:off x="5032267" y="2771744"/>
            <a:ext cx="2127463" cy="96103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200" kern="1200">
                <a:solidFill>
                  <a:schemeClr val="tx1"/>
                </a:solidFill>
                <a:latin typeface="Astronomus" pitchFamily="2" charset="0"/>
                <a:ea typeface="+mj-ea"/>
                <a:cs typeface="+mj-cs"/>
              </a:defRPr>
            </a:lvl1pPr>
          </a:lstStyle>
          <a:p>
            <a:r>
              <a:rPr lang="en-GB" sz="3200" dirty="0">
                <a:solidFill>
                  <a:schemeClr val="tx1">
                    <a:lumMod val="65000"/>
                    <a:lumOff val="35000"/>
                  </a:schemeClr>
                </a:solidFill>
              </a:rPr>
              <a:t>Italy</a:t>
            </a:r>
            <a:endParaRPr lang="en-IT" sz="1200" dirty="0">
              <a:solidFill>
                <a:schemeClr val="tx1">
                  <a:lumMod val="65000"/>
                  <a:lumOff val="35000"/>
                </a:schemeClr>
              </a:solidFill>
            </a:endParaRPr>
          </a:p>
        </p:txBody>
      </p:sp>
      <p:pic>
        <p:nvPicPr>
          <p:cNvPr id="8" name="Immagine 7">
            <a:extLst>
              <a:ext uri="{FF2B5EF4-FFF2-40B4-BE49-F238E27FC236}">
                <a16:creationId xmlns:a16="http://schemas.microsoft.com/office/drawing/2014/main" id="{FD600A50-41C1-59B4-BA1D-60DB3F57C0F8}"/>
              </a:ext>
            </a:extLst>
          </p:cNvPr>
          <p:cNvPicPr>
            <a:picLocks noChangeAspect="1"/>
          </p:cNvPicPr>
          <p:nvPr userDrawn="1"/>
        </p:nvPicPr>
        <p:blipFill>
          <a:blip r:embed="rId4"/>
          <a:stretch>
            <a:fillRect/>
          </a:stretch>
        </p:blipFill>
        <p:spPr>
          <a:xfrm>
            <a:off x="10082063" y="6335486"/>
            <a:ext cx="1281498" cy="365124"/>
          </a:xfrm>
          <a:prstGeom prst="rect">
            <a:avLst/>
          </a:prstGeom>
        </p:spPr>
      </p:pic>
    </p:spTree>
    <p:extLst>
      <p:ext uri="{BB962C8B-B14F-4D97-AF65-F5344CB8AC3E}">
        <p14:creationId xmlns:p14="http://schemas.microsoft.com/office/powerpoint/2010/main" val="3841564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2CD2-5EEB-C6F0-FCD5-53372D973553}"/>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DD82D40F-FB5E-8152-1630-A4B8849602C2}"/>
              </a:ext>
            </a:extLst>
          </p:cNvPr>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IT" dirty="0"/>
          </a:p>
        </p:txBody>
      </p:sp>
      <p:sp>
        <p:nvSpPr>
          <p:cNvPr id="5" name="Footer Placeholder 4">
            <a:extLst>
              <a:ext uri="{FF2B5EF4-FFF2-40B4-BE49-F238E27FC236}">
                <a16:creationId xmlns:a16="http://schemas.microsoft.com/office/drawing/2014/main" id="{74118BBE-3B49-358B-67DB-B498AE904F18}"/>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3341C727-C7CF-08D6-731A-80578975CB64}"/>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110123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AA81E-24C8-20BC-F5E7-2C4CFF87D57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BA20B1ED-6915-6E9D-7FA2-1A8A1E4635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5" name="Footer Placeholder 4">
            <a:extLst>
              <a:ext uri="{FF2B5EF4-FFF2-40B4-BE49-F238E27FC236}">
                <a16:creationId xmlns:a16="http://schemas.microsoft.com/office/drawing/2014/main" id="{9C44F733-A443-1D1C-4084-70B6F614D061}"/>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FEE7DD18-7CF5-CB61-063C-A95C2677DED8}"/>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2009929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20CB6-16DF-F6C4-63D3-322C7D3A3148}"/>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04CF1146-7924-7E43-FC32-923E48906351}"/>
              </a:ext>
            </a:extLst>
          </p:cNvPr>
          <p:cNvSpPr>
            <a:spLocks noGrp="1"/>
          </p:cNvSpPr>
          <p:nvPr>
            <p:ph sz="half" idx="1"/>
          </p:nvPr>
        </p:nvSpPr>
        <p:spPr>
          <a:xfrm>
            <a:off x="838200" y="1825625"/>
            <a:ext cx="5181600" cy="4351338"/>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a:extLst>
              <a:ext uri="{FF2B5EF4-FFF2-40B4-BE49-F238E27FC236}">
                <a16:creationId xmlns:a16="http://schemas.microsoft.com/office/drawing/2014/main" id="{61FD5195-A611-C9DA-6A6F-E5C942F8DF2C}"/>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7" name="Slide Number Placeholder 6">
            <a:extLst>
              <a:ext uri="{FF2B5EF4-FFF2-40B4-BE49-F238E27FC236}">
                <a16:creationId xmlns:a16="http://schemas.microsoft.com/office/drawing/2014/main" id="{9C85BB0B-C073-9357-6D22-13D0E634FAB5}"/>
              </a:ext>
            </a:extLst>
          </p:cNvPr>
          <p:cNvSpPr>
            <a:spLocks noGrp="1"/>
          </p:cNvSpPr>
          <p:nvPr>
            <p:ph type="sldNum" sz="quarter" idx="12"/>
          </p:nvPr>
        </p:nvSpPr>
        <p:spPr/>
        <p:txBody>
          <a:bodyPr/>
          <a:lstStyle/>
          <a:p>
            <a:fld id="{BD1D32A2-C957-7B4B-85B1-BAB13D3C7546}" type="slidenum">
              <a:rPr lang="en-IT" smtClean="0"/>
              <a:t>‹N›</a:t>
            </a:fld>
            <a:endParaRPr lang="en-IT"/>
          </a:p>
        </p:txBody>
      </p:sp>
      <p:sp>
        <p:nvSpPr>
          <p:cNvPr id="8" name="Picture Placeholder 2">
            <a:extLst>
              <a:ext uri="{FF2B5EF4-FFF2-40B4-BE49-F238E27FC236}">
                <a16:creationId xmlns:a16="http://schemas.microsoft.com/office/drawing/2014/main" id="{F1FD3CF5-DF71-7852-63FE-C141D8178139}"/>
              </a:ext>
            </a:extLst>
          </p:cNvPr>
          <p:cNvSpPr>
            <a:spLocks noGrp="1"/>
          </p:cNvSpPr>
          <p:nvPr>
            <p:ph type="pic" idx="13"/>
          </p:nvPr>
        </p:nvSpPr>
        <p:spPr>
          <a:xfrm>
            <a:off x="6172202" y="1825625"/>
            <a:ext cx="5183186"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Tree>
    <p:extLst>
      <p:ext uri="{BB962C8B-B14F-4D97-AF65-F5344CB8AC3E}">
        <p14:creationId xmlns:p14="http://schemas.microsoft.com/office/powerpoint/2010/main" val="4248151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0F9D2-187D-4583-3870-094CA0F6B062}"/>
              </a:ext>
            </a:extLst>
          </p:cNvPr>
          <p:cNvSpPr>
            <a:spLocks noGrp="1"/>
          </p:cNvSpPr>
          <p:nvPr>
            <p:ph type="title"/>
          </p:nvPr>
        </p:nvSpPr>
        <p:spPr>
          <a:xfrm>
            <a:off x="839788" y="365125"/>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AEB288B3-30E8-BB4B-D96C-2AD14AA74425}"/>
              </a:ext>
            </a:extLst>
          </p:cNvPr>
          <p:cNvSpPr>
            <a:spLocks noGrp="1"/>
          </p:cNvSpPr>
          <p:nvPr>
            <p:ph type="body" idx="1"/>
          </p:nvPr>
        </p:nvSpPr>
        <p:spPr>
          <a:xfrm>
            <a:off x="839788" y="1681163"/>
            <a:ext cx="5157787" cy="823912"/>
          </a:xfrm>
        </p:spPr>
        <p:txBody>
          <a:bodyPr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4" name="Content Placeholder 3">
            <a:extLst>
              <a:ext uri="{FF2B5EF4-FFF2-40B4-BE49-F238E27FC236}">
                <a16:creationId xmlns:a16="http://schemas.microsoft.com/office/drawing/2014/main" id="{25BAEF2F-417B-6E77-7700-EB20EB81F1B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B965B9FC-3711-D566-926A-7B3F3BAB3443}"/>
              </a:ext>
            </a:extLst>
          </p:cNvPr>
          <p:cNvSpPr>
            <a:spLocks noGrp="1"/>
          </p:cNvSpPr>
          <p:nvPr>
            <p:ph type="body" sz="quarter" idx="3"/>
          </p:nvPr>
        </p:nvSpPr>
        <p:spPr>
          <a:xfrm>
            <a:off x="6172200" y="1681163"/>
            <a:ext cx="5183188" cy="823912"/>
          </a:xfrm>
        </p:spPr>
        <p:txBody>
          <a:bodyPr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08D572B-C01D-3158-B978-6B79A6C25872}"/>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8" name="Footer Placeholder 7">
            <a:extLst>
              <a:ext uri="{FF2B5EF4-FFF2-40B4-BE49-F238E27FC236}">
                <a16:creationId xmlns:a16="http://schemas.microsoft.com/office/drawing/2014/main" id="{D273E8B5-D52F-C8AD-FCD2-2F61CBE7A90B}"/>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9" name="Slide Number Placeholder 8">
            <a:extLst>
              <a:ext uri="{FF2B5EF4-FFF2-40B4-BE49-F238E27FC236}">
                <a16:creationId xmlns:a16="http://schemas.microsoft.com/office/drawing/2014/main" id="{7C32C6C4-6F27-AC9F-2E6E-989B16D8908D}"/>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2971150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814F1-102D-07B1-3E8C-8B06B954D789}"/>
              </a:ext>
            </a:extLst>
          </p:cNvPr>
          <p:cNvSpPr>
            <a:spLocks noGrp="1"/>
          </p:cNvSpPr>
          <p:nvPr>
            <p:ph type="title"/>
          </p:nvPr>
        </p:nvSpPr>
        <p:spPr/>
        <p:txBody>
          <a:bodyPr/>
          <a:lstStyle/>
          <a:p>
            <a:r>
              <a:rPr lang="en-GB"/>
              <a:t>Click to edit Master title style</a:t>
            </a:r>
            <a:endParaRPr lang="en-IT"/>
          </a:p>
        </p:txBody>
      </p:sp>
      <p:sp>
        <p:nvSpPr>
          <p:cNvPr id="4" name="Footer Placeholder 3">
            <a:extLst>
              <a:ext uri="{FF2B5EF4-FFF2-40B4-BE49-F238E27FC236}">
                <a16:creationId xmlns:a16="http://schemas.microsoft.com/office/drawing/2014/main" id="{B01EA98B-D0FE-F856-D696-451473850A57}"/>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5" name="Slide Number Placeholder 4">
            <a:extLst>
              <a:ext uri="{FF2B5EF4-FFF2-40B4-BE49-F238E27FC236}">
                <a16:creationId xmlns:a16="http://schemas.microsoft.com/office/drawing/2014/main" id="{496CBFDE-2EDD-D717-EBE3-476ECAEE692D}"/>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556389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409FF5-1265-EE9E-5D7E-CA9112A46F68}"/>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4" name="Slide Number Placeholder 3">
            <a:extLst>
              <a:ext uri="{FF2B5EF4-FFF2-40B4-BE49-F238E27FC236}">
                <a16:creationId xmlns:a16="http://schemas.microsoft.com/office/drawing/2014/main" id="{B3DB7B3F-13E1-E9B6-2CB9-D2A52C13B974}"/>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3533457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08DAA-D051-6558-7781-F9C09810966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511A01E5-D061-81B2-5A9A-A9C5E172B2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39E0B0B3-00F2-21E5-9206-54ECCE0AE2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5207C7CE-11DA-977F-66D6-7AA72C7F0405}"/>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7" name="Slide Number Placeholder 6">
            <a:extLst>
              <a:ext uri="{FF2B5EF4-FFF2-40B4-BE49-F238E27FC236}">
                <a16:creationId xmlns:a16="http://schemas.microsoft.com/office/drawing/2014/main" id="{CFD8EF9A-158C-E10F-242F-FCCAF48D165D}"/>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775001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4FC4E-4E85-BBB4-BC94-77AA494EC71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2EB88709-382C-8750-0D81-71BBEE9EE0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6C997044-9FAC-3DF5-7FB4-FC5E0A907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B660EABE-177A-55E4-70C5-C1928A53C191}"/>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7" name="Slide Number Placeholder 6">
            <a:extLst>
              <a:ext uri="{FF2B5EF4-FFF2-40B4-BE49-F238E27FC236}">
                <a16:creationId xmlns:a16="http://schemas.microsoft.com/office/drawing/2014/main" id="{7DA4003A-B6F8-E01A-19CA-8C52C19E4912}"/>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598337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QR C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4FC4E-4E85-BBB4-BC94-77AA494EC719}"/>
              </a:ext>
            </a:extLst>
          </p:cNvPr>
          <p:cNvSpPr>
            <a:spLocks noGrp="1"/>
          </p:cNvSpPr>
          <p:nvPr>
            <p:ph type="title" hasCustomPrompt="1"/>
          </p:nvPr>
        </p:nvSpPr>
        <p:spPr>
          <a:xfrm>
            <a:off x="1171092" y="1503320"/>
            <a:ext cx="4924908" cy="530225"/>
          </a:xfrm>
        </p:spPr>
        <p:txBody>
          <a:bodyPr anchor="b"/>
          <a:lstStyle>
            <a:lvl1pPr>
              <a:defRPr sz="3200"/>
            </a:lvl1pPr>
          </a:lstStyle>
          <a:p>
            <a:r>
              <a:rPr lang="en-GB" dirty="0"/>
              <a:t>Folder</a:t>
            </a:r>
            <a:endParaRPr lang="en-IT" dirty="0"/>
          </a:p>
        </p:txBody>
      </p:sp>
      <p:sp>
        <p:nvSpPr>
          <p:cNvPr id="3" name="Picture Placeholder 2">
            <a:extLst>
              <a:ext uri="{FF2B5EF4-FFF2-40B4-BE49-F238E27FC236}">
                <a16:creationId xmlns:a16="http://schemas.microsoft.com/office/drawing/2014/main" id="{2EB88709-382C-8750-0D81-71BBEE9EE075}"/>
              </a:ext>
            </a:extLst>
          </p:cNvPr>
          <p:cNvSpPr>
            <a:spLocks noGrp="1"/>
          </p:cNvSpPr>
          <p:nvPr>
            <p:ph type="pic" idx="1" hasCustomPrompt="1"/>
          </p:nvPr>
        </p:nvSpPr>
        <p:spPr>
          <a:xfrm>
            <a:off x="6665443" y="1503321"/>
            <a:ext cx="4114800" cy="38036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IT" dirty="0"/>
              <a:t>Click to add QR Picture</a:t>
            </a:r>
          </a:p>
        </p:txBody>
      </p:sp>
      <p:sp>
        <p:nvSpPr>
          <p:cNvPr id="4" name="Text Placeholder 3">
            <a:extLst>
              <a:ext uri="{FF2B5EF4-FFF2-40B4-BE49-F238E27FC236}">
                <a16:creationId xmlns:a16="http://schemas.microsoft.com/office/drawing/2014/main" id="{6C997044-9FAC-3DF5-7FB4-FC5E0A907BAF}"/>
              </a:ext>
            </a:extLst>
          </p:cNvPr>
          <p:cNvSpPr>
            <a:spLocks noGrp="1"/>
          </p:cNvSpPr>
          <p:nvPr>
            <p:ph type="body" sz="half" idx="2"/>
          </p:nvPr>
        </p:nvSpPr>
        <p:spPr>
          <a:xfrm>
            <a:off x="1171092" y="2401294"/>
            <a:ext cx="4924908" cy="290567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6" name="Footer Placeholder 5">
            <a:extLst>
              <a:ext uri="{FF2B5EF4-FFF2-40B4-BE49-F238E27FC236}">
                <a16:creationId xmlns:a16="http://schemas.microsoft.com/office/drawing/2014/main" id="{B660EABE-177A-55E4-70C5-C1928A53C191}"/>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7" name="Slide Number Placeholder 6">
            <a:extLst>
              <a:ext uri="{FF2B5EF4-FFF2-40B4-BE49-F238E27FC236}">
                <a16:creationId xmlns:a16="http://schemas.microsoft.com/office/drawing/2014/main" id="{7DA4003A-B6F8-E01A-19CA-8C52C19E4912}"/>
              </a:ext>
            </a:extLst>
          </p:cNvPr>
          <p:cNvSpPr>
            <a:spLocks noGrp="1"/>
          </p:cNvSpPr>
          <p:nvPr>
            <p:ph type="sldNum" sz="quarter" idx="12"/>
          </p:nvPr>
        </p:nvSpPr>
        <p:spPr/>
        <p:txBody>
          <a:bodyPr/>
          <a:lstStyle/>
          <a:p>
            <a:fld id="{BD1D32A2-C957-7B4B-85B1-BAB13D3C7546}" type="slidenum">
              <a:rPr lang="en-IT" smtClean="0"/>
              <a:t>‹N›</a:t>
            </a:fld>
            <a:endParaRPr lang="en-IT"/>
          </a:p>
        </p:txBody>
      </p:sp>
    </p:spTree>
    <p:extLst>
      <p:ext uri="{BB962C8B-B14F-4D97-AF65-F5344CB8AC3E}">
        <p14:creationId xmlns:p14="http://schemas.microsoft.com/office/powerpoint/2010/main" val="992384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NDIN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669D3E1-7B14-D577-A26F-F05E40CD1E3F}"/>
              </a:ext>
            </a:extLst>
          </p:cNvPr>
          <p:cNvPicPr>
            <a:picLocks noChangeAspect="1"/>
          </p:cNvPicPr>
          <p:nvPr userDrawn="1"/>
        </p:nvPicPr>
        <p:blipFill>
          <a:blip r:embed="rId2"/>
          <a:stretch>
            <a:fillRect/>
          </a:stretch>
        </p:blipFill>
        <p:spPr>
          <a:xfrm>
            <a:off x="0" y="0"/>
            <a:ext cx="12192000" cy="6858001"/>
          </a:xfrm>
          <a:prstGeom prst="rect">
            <a:avLst/>
          </a:prstGeom>
        </p:spPr>
      </p:pic>
      <p:sp>
        <p:nvSpPr>
          <p:cNvPr id="2" name="Title 1">
            <a:extLst>
              <a:ext uri="{FF2B5EF4-FFF2-40B4-BE49-F238E27FC236}">
                <a16:creationId xmlns:a16="http://schemas.microsoft.com/office/drawing/2014/main" id="{016D01ED-C930-5004-42CE-54A45354FB95}"/>
              </a:ext>
            </a:extLst>
          </p:cNvPr>
          <p:cNvSpPr>
            <a:spLocks noGrp="1"/>
          </p:cNvSpPr>
          <p:nvPr>
            <p:ph type="ctrTitle" hasCustomPrompt="1"/>
          </p:nvPr>
        </p:nvSpPr>
        <p:spPr>
          <a:xfrm>
            <a:off x="1524000" y="3180521"/>
            <a:ext cx="9144000" cy="703153"/>
          </a:xfrm>
        </p:spPr>
        <p:txBody>
          <a:bodyPr anchor="ctr">
            <a:noAutofit/>
          </a:bodyPr>
          <a:lstStyle>
            <a:lvl1pPr algn="ctr">
              <a:defRPr sz="6000"/>
            </a:lvl1pPr>
          </a:lstStyle>
          <a:p>
            <a:r>
              <a:rPr lang="en-GB" dirty="0"/>
              <a:t>THANK YOU</a:t>
            </a:r>
            <a:endParaRPr lang="en-IT" dirty="0"/>
          </a:p>
        </p:txBody>
      </p:sp>
      <p:sp>
        <p:nvSpPr>
          <p:cNvPr id="5" name="Footer Placeholder 4">
            <a:extLst>
              <a:ext uri="{FF2B5EF4-FFF2-40B4-BE49-F238E27FC236}">
                <a16:creationId xmlns:a16="http://schemas.microsoft.com/office/drawing/2014/main" id="{ADECA286-79EA-82C6-39E8-61C19320A843}"/>
              </a:ext>
            </a:extLst>
          </p:cNvPr>
          <p:cNvSpPr>
            <a:spLocks noGrp="1"/>
          </p:cNvSpPr>
          <p:nvPr>
            <p:ph type="ftr" sz="quarter" idx="11"/>
          </p:nvPr>
        </p:nvSpPr>
        <p:spPr/>
        <p:txBody>
          <a:body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E0C1843C-1C17-9E80-0172-045C1372F1E3}"/>
              </a:ext>
            </a:extLst>
          </p:cNvPr>
          <p:cNvSpPr>
            <a:spLocks noGrp="1"/>
          </p:cNvSpPr>
          <p:nvPr>
            <p:ph type="sldNum" sz="quarter" idx="12"/>
          </p:nvPr>
        </p:nvSpPr>
        <p:spPr/>
        <p:txBody>
          <a:bodyPr/>
          <a:lstStyle/>
          <a:p>
            <a:fld id="{BD1D32A2-C957-7B4B-85B1-BAB13D3C7546}" type="slidenum">
              <a:rPr lang="en-IT" smtClean="0"/>
              <a:t>‹N›</a:t>
            </a:fld>
            <a:endParaRPr lang="en-IT"/>
          </a:p>
        </p:txBody>
      </p:sp>
      <p:pic>
        <p:nvPicPr>
          <p:cNvPr id="9" name="Picture 8" descr="A black and orange logo&#10;&#10;Description automatically generated">
            <a:extLst>
              <a:ext uri="{FF2B5EF4-FFF2-40B4-BE49-F238E27FC236}">
                <a16:creationId xmlns:a16="http://schemas.microsoft.com/office/drawing/2014/main" id="{F8CAD6EE-86F8-C39E-2122-A7020DE26DC7}"/>
              </a:ext>
            </a:extLst>
          </p:cNvPr>
          <p:cNvPicPr>
            <a:picLocks noChangeAspect="1"/>
          </p:cNvPicPr>
          <p:nvPr userDrawn="1"/>
        </p:nvPicPr>
        <p:blipFill>
          <a:blip r:embed="rId3"/>
          <a:srcRect b="39734"/>
          <a:stretch/>
        </p:blipFill>
        <p:spPr>
          <a:xfrm>
            <a:off x="4305300" y="1713685"/>
            <a:ext cx="3581400" cy="703153"/>
          </a:xfrm>
          <a:prstGeom prst="rect">
            <a:avLst/>
          </a:prstGeom>
        </p:spPr>
      </p:pic>
      <p:pic>
        <p:nvPicPr>
          <p:cNvPr id="3" name="Immagine 2">
            <a:extLst>
              <a:ext uri="{FF2B5EF4-FFF2-40B4-BE49-F238E27FC236}">
                <a16:creationId xmlns:a16="http://schemas.microsoft.com/office/drawing/2014/main" id="{95D218AD-5DA6-B502-C96A-C0ED82FB7397}"/>
              </a:ext>
            </a:extLst>
          </p:cNvPr>
          <p:cNvPicPr>
            <a:picLocks noChangeAspect="1"/>
          </p:cNvPicPr>
          <p:nvPr userDrawn="1"/>
        </p:nvPicPr>
        <p:blipFill>
          <a:blip r:embed="rId4"/>
          <a:stretch>
            <a:fillRect/>
          </a:stretch>
        </p:blipFill>
        <p:spPr>
          <a:xfrm>
            <a:off x="10082063" y="6324600"/>
            <a:ext cx="1281498" cy="365124"/>
          </a:xfrm>
          <a:prstGeom prst="rect">
            <a:avLst/>
          </a:prstGeom>
        </p:spPr>
      </p:pic>
    </p:spTree>
    <p:extLst>
      <p:ext uri="{BB962C8B-B14F-4D97-AF65-F5344CB8AC3E}">
        <p14:creationId xmlns:p14="http://schemas.microsoft.com/office/powerpoint/2010/main" val="13491556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descr="A white hexagons on a grey background&#10;&#10;Description automatically generated">
            <a:extLst>
              <a:ext uri="{FF2B5EF4-FFF2-40B4-BE49-F238E27FC236}">
                <a16:creationId xmlns:a16="http://schemas.microsoft.com/office/drawing/2014/main" id="{636CE6D2-C646-0795-7FB6-948D9591C3A6}"/>
              </a:ext>
            </a:extLst>
          </p:cNvPr>
          <p:cNvPicPr>
            <a:picLocks noChangeAspect="1"/>
          </p:cNvPicPr>
          <p:nvPr userDrawn="1"/>
        </p:nvPicPr>
        <p:blipFill rotWithShape="1">
          <a:blip r:embed="rId13"/>
          <a:srcRect l="5535" r="5535"/>
          <a:stretch/>
        </p:blipFill>
        <p:spPr>
          <a:xfrm>
            <a:off x="-1" y="0"/>
            <a:ext cx="12192001" cy="6858000"/>
          </a:xfrm>
          <a:prstGeom prst="rect">
            <a:avLst/>
          </a:prstGeom>
        </p:spPr>
      </p:pic>
      <p:sp>
        <p:nvSpPr>
          <p:cNvPr id="2" name="Title Placeholder 1">
            <a:extLst>
              <a:ext uri="{FF2B5EF4-FFF2-40B4-BE49-F238E27FC236}">
                <a16:creationId xmlns:a16="http://schemas.microsoft.com/office/drawing/2014/main" id="{90D15A62-518B-455C-AA33-12CE63E8B0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IT" dirty="0"/>
          </a:p>
        </p:txBody>
      </p:sp>
      <p:sp>
        <p:nvSpPr>
          <p:cNvPr id="3" name="Text Placeholder 2">
            <a:extLst>
              <a:ext uri="{FF2B5EF4-FFF2-40B4-BE49-F238E27FC236}">
                <a16:creationId xmlns:a16="http://schemas.microsoft.com/office/drawing/2014/main" id="{C432D936-E096-5353-4ECA-35FF46E53C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Footer Placeholder 4">
            <a:extLst>
              <a:ext uri="{FF2B5EF4-FFF2-40B4-BE49-F238E27FC236}">
                <a16:creationId xmlns:a16="http://schemas.microsoft.com/office/drawing/2014/main" id="{D11876FF-5F22-6347-B398-6480BD7BAB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a:solidFill>
                  <a:schemeClr val="tx1">
                    <a:tint val="82000"/>
                  </a:schemeClr>
                </a:solidFill>
                <a:latin typeface="Open Sans" pitchFamily="2" charset="0"/>
                <a:ea typeface="Open Sans" pitchFamily="2" charset="0"/>
                <a:cs typeface="Open Sans" pitchFamily="2" charset="0"/>
              </a:defRPr>
            </a:lvl1pPr>
          </a:lstStyle>
          <a:p>
            <a:r>
              <a:rPr lang="en-IT" dirty="0"/>
              <a:t>HUAWEI </a:t>
            </a:r>
            <a:r>
              <a:rPr lang="en-IT"/>
              <a:t>TECHARENA 202</a:t>
            </a:r>
            <a:r>
              <a:rPr lang="it-IT" dirty="0"/>
              <a:t>6</a:t>
            </a:r>
            <a:endParaRPr lang="en-IT" dirty="0"/>
          </a:p>
        </p:txBody>
      </p:sp>
      <p:sp>
        <p:nvSpPr>
          <p:cNvPr id="6" name="Slide Number Placeholder 5">
            <a:extLst>
              <a:ext uri="{FF2B5EF4-FFF2-40B4-BE49-F238E27FC236}">
                <a16:creationId xmlns:a16="http://schemas.microsoft.com/office/drawing/2014/main" id="{0961C5AF-0961-6B72-A8C1-3E042247F107}"/>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Open Sans" pitchFamily="2" charset="0"/>
                <a:ea typeface="Open Sans" pitchFamily="2" charset="0"/>
                <a:cs typeface="Open Sans" pitchFamily="2" charset="0"/>
              </a:defRPr>
            </a:lvl1pPr>
          </a:lstStyle>
          <a:p>
            <a:fld id="{BD1D32A2-C957-7B4B-85B1-BAB13D3C7546}" type="slidenum">
              <a:rPr lang="en-IT" smtClean="0"/>
              <a:pPr/>
              <a:t>‹N›</a:t>
            </a:fld>
            <a:endParaRPr lang="en-IT" dirty="0"/>
          </a:p>
        </p:txBody>
      </p:sp>
      <p:pic>
        <p:nvPicPr>
          <p:cNvPr id="4" name="Immagine 3">
            <a:extLst>
              <a:ext uri="{FF2B5EF4-FFF2-40B4-BE49-F238E27FC236}">
                <a16:creationId xmlns:a16="http://schemas.microsoft.com/office/drawing/2014/main" id="{52C1E1F1-A429-3FFC-7D81-B6E4919A6870}"/>
              </a:ext>
            </a:extLst>
          </p:cNvPr>
          <p:cNvPicPr>
            <a:picLocks noChangeAspect="1"/>
          </p:cNvPicPr>
          <p:nvPr userDrawn="1"/>
        </p:nvPicPr>
        <p:blipFill>
          <a:blip r:embed="rId14"/>
          <a:stretch>
            <a:fillRect/>
          </a:stretch>
        </p:blipFill>
        <p:spPr>
          <a:xfrm>
            <a:off x="10082063" y="6324600"/>
            <a:ext cx="1281498" cy="365124"/>
          </a:xfrm>
          <a:prstGeom prst="rect">
            <a:avLst/>
          </a:prstGeom>
        </p:spPr>
      </p:pic>
    </p:spTree>
    <p:extLst>
      <p:ext uri="{BB962C8B-B14F-4D97-AF65-F5344CB8AC3E}">
        <p14:creationId xmlns:p14="http://schemas.microsoft.com/office/powerpoint/2010/main" val="2998836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000" kern="1200">
          <a:solidFill>
            <a:schemeClr val="tx1"/>
          </a:solidFill>
          <a:latin typeface="Astronomus"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itchFamily="2" charset="0"/>
          <a:ea typeface="Open Sans" pitchFamily="2" charset="0"/>
          <a:cs typeface="Open Sans"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2.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FA285-FBAD-73E2-1BFB-AA6BFAF95355}"/>
              </a:ext>
            </a:extLst>
          </p:cNvPr>
          <p:cNvSpPr>
            <a:spLocks noGrp="1"/>
          </p:cNvSpPr>
          <p:nvPr>
            <p:ph type="ctrTitle"/>
          </p:nvPr>
        </p:nvSpPr>
        <p:spPr/>
        <p:txBody>
          <a:bodyPr/>
          <a:lstStyle/>
          <a:p>
            <a:r>
              <a:rPr sz="3200" b="1"/>
              <a:t>Physics-checked AI for RF tolerance analysis</a:t>
            </a:r>
            <a:endParaRPr lang="en-IT"/>
          </a:p>
        </p:txBody>
      </p:sp>
      <p:sp>
        <p:nvSpPr>
          <p:cNvPr id="3" name="TextBox 2"/>
          <p:cNvSpPr txBox="1"/>
          <p:nvPr/>
        </p:nvSpPr>
        <p:spPr>
          <a:xfrm>
            <a:off x="1097280" y="5230368"/>
            <a:ext cx="9994392" cy="457200"/>
          </a:xfrm>
          <a:prstGeom prst="rect">
            <a:avLst/>
          </a:prstGeom>
          <a:noFill/>
        </p:spPr>
        <p:txBody>
          <a:bodyPr wrap="square">
            <a:spAutoFit/>
          </a:bodyPr>
          <a:lstStyle/>
          <a:p>
            <a:pPr algn="ctr"/>
            <a:r>
              <a:rPr sz="1700">
                <a:solidFill>
                  <a:srgbClr val="6B7378"/>
                </a:solidFill>
              </a:rPr>
              <a:t>Sub-topic 3  |  A 30-minute solver run replaced by a checked surrogate model</a:t>
            </a:r>
          </a:p>
        </p:txBody>
      </p:sp>
    </p:spTree>
    <p:extLst>
      <p:ext uri="{BB962C8B-B14F-4D97-AF65-F5344CB8AC3E}">
        <p14:creationId xmlns:p14="http://schemas.microsoft.com/office/powerpoint/2010/main" val="3693276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D8B5E-16A8-A7DC-674F-F07333D8010B}"/>
              </a:ext>
            </a:extLst>
          </p:cNvPr>
          <p:cNvSpPr>
            <a:spLocks noGrp="1"/>
          </p:cNvSpPr>
          <p:nvPr>
            <p:ph type="title"/>
          </p:nvPr>
        </p:nvSpPr>
        <p:spPr/>
        <p:txBody>
          <a:bodyPr/>
          <a:lstStyle/>
          <a:p>
            <a:r>
              <a:rPr sz="3000" b="1"/>
              <a:t>A 60-run surrogate stands in for the solver</a:t>
            </a:r>
          </a:p>
        </p:txBody>
      </p:sp>
      <p:sp>
        <p:nvSpPr>
          <p:cNvPr id="3" name="Content Placeholder 2">
            <a:extLst>
              <a:ext uri="{FF2B5EF4-FFF2-40B4-BE49-F238E27FC236}">
                <a16:creationId xmlns:a16="http://schemas.microsoft.com/office/drawing/2014/main" id="{9E89F308-BB28-3D1F-4570-E15FBDB74BB3}"/>
              </a:ext>
            </a:extLst>
          </p:cNvPr>
          <p:cNvSpPr>
            <a:spLocks noGrp="1"/>
          </p:cNvSpPr>
          <p:nvPr>
            <p:ph sz="half" idx="1"/>
          </p:nvPr>
        </p:nvSpPr>
        <p:spPr/>
        <p:txBody>
          <a:bodyPr wrap="square"/>
          <a:lstStyle/>
          <a:p>
            <a:pPr>
              <a:spcAft>
                <a:spcPts val="1200"/>
              </a:spcAft>
            </a:pPr>
            <a:r>
              <a:rPr sz="1600" b="0"/>
              <a:t>Kriging model of the 11 tolerance parameters.</a:t>
            </a:r>
            <a:endParaRPr lang="en-IT"/>
          </a:p>
          <a:p>
            <a:pPr>
              <a:spcAft>
                <a:spcPts val="1200"/>
              </a:spcAft>
            </a:pPr>
            <a:r>
              <a:rPr sz="1600" b="0"/>
              <a:t>60 solver runs are enough: ten random 60-run models reproduce the 540-run results within about 3 points.</a:t>
            </a:r>
          </a:p>
          <a:p>
            <a:pPr>
              <a:spcAft>
                <a:spcPts val="1200"/>
              </a:spcAft>
            </a:pPr>
            <a:r>
              <a:rPr sz="1600" b="0"/>
              <a:t>Reciprocity built in, passivity checked on every predicted matrix – confirmed by Huawei as physics-informed.</a:t>
            </a:r>
          </a:p>
          <a:p>
            <a:pPr>
              <a:spcAft>
                <a:spcPts val="1200"/>
              </a:spcAft>
            </a:pPr>
            <a:r>
              <a:rPr sz="1600" b="0"/>
              <a:t>One model answers both criteria: sensitivity (KPI 2) and design search (KPI 1).</a:t>
            </a:r>
          </a:p>
        </p:txBody>
      </p:sp>
      <p:sp>
        <p:nvSpPr>
          <p:cNvPr id="5" name="Footer Placeholder 4">
            <a:extLst>
              <a:ext uri="{FF2B5EF4-FFF2-40B4-BE49-F238E27FC236}">
                <a16:creationId xmlns:a16="http://schemas.microsoft.com/office/drawing/2014/main" id="{22705DEC-8C8F-A165-FAED-A7E6C23BC94F}"/>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FC1F5359-E2C6-65B4-8891-E32AAECE2121}"/>
              </a:ext>
            </a:extLst>
          </p:cNvPr>
          <p:cNvSpPr>
            <a:spLocks noGrp="1"/>
          </p:cNvSpPr>
          <p:nvPr>
            <p:ph type="sldNum" sz="quarter" idx="12"/>
          </p:nvPr>
        </p:nvSpPr>
        <p:spPr/>
        <p:txBody>
          <a:bodyPr/>
          <a:lstStyle/>
          <a:p>
            <a:fld id="{BD1D32A2-C957-7B4B-85B1-BAB13D3C7546}" type="slidenum">
              <a:rPr lang="en-IT" smtClean="0"/>
              <a:t>2</a:t>
            </a:fld>
            <a:endParaRPr lang="en-IT"/>
          </a:p>
        </p:txBody>
      </p:sp>
      <p:pic>
        <p:nvPicPr>
          <p:cNvPr id="7" name="Picture 6" descr="Six-stage pipeline: audit the data, kriging with consistency checks, validation on unseen boards, exact sensitivity analysis (criterion 2), virtual design and tolerance study (criterion 1), scenario check with boards held out."/>
          <p:cNvPicPr>
            <a:picLocks noChangeAspect="1"/>
          </p:cNvPicPr>
          <p:nvPr/>
        </p:nvPicPr>
        <p:blipFill>
          <a:blip r:embed="rId2"/>
          <a:stretch>
            <a:fillRect/>
          </a:stretch>
        </p:blipFill>
        <p:spPr>
          <a:xfrm>
            <a:off x="6172200" y="1828800"/>
            <a:ext cx="5184648" cy="4352544"/>
          </a:xfrm>
          <a:prstGeom prst="rect">
            <a:avLst/>
          </a:prstGeom>
        </p:spPr>
      </p:pic>
    </p:spTree>
    <p:extLst>
      <p:ext uri="{BB962C8B-B14F-4D97-AF65-F5344CB8AC3E}">
        <p14:creationId xmlns:p14="http://schemas.microsoft.com/office/powerpoint/2010/main" val="332665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6198-F809-C67F-8A79-8BDF13E19E32}"/>
              </a:ext>
            </a:extLst>
          </p:cNvPr>
          <p:cNvSpPr>
            <a:spLocks noGrp="1"/>
          </p:cNvSpPr>
          <p:nvPr>
            <p:ph type="title"/>
          </p:nvPr>
        </p:nvSpPr>
        <p:spPr/>
        <p:txBody>
          <a:bodyPr/>
          <a:lstStyle/>
          <a:p>
            <a:r>
              <a:rPr sz="2800" b="1"/>
              <a:t>KPI 2 – sensitivity: the right drivers from 30 runs, not 13,000</a:t>
            </a:r>
          </a:p>
        </p:txBody>
      </p:sp>
      <p:sp>
        <p:nvSpPr>
          <p:cNvPr id="5" name="Footer Placeholder 4">
            <a:extLst>
              <a:ext uri="{FF2B5EF4-FFF2-40B4-BE49-F238E27FC236}">
                <a16:creationId xmlns:a16="http://schemas.microsoft.com/office/drawing/2014/main" id="{B44173BD-035C-5A1B-92DF-F652BC8A6F93}"/>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984EB7A1-13A5-6D33-2B55-42E6C89513B9}"/>
              </a:ext>
            </a:extLst>
          </p:cNvPr>
          <p:cNvSpPr>
            <a:spLocks noGrp="1"/>
          </p:cNvSpPr>
          <p:nvPr>
            <p:ph type="sldNum" sz="quarter" idx="12"/>
          </p:nvPr>
        </p:nvSpPr>
        <p:spPr/>
        <p:txBody>
          <a:bodyPr/>
          <a:lstStyle/>
          <a:p>
            <a:fld id="{BD1D32A2-C957-7B4B-85B1-BAB13D3C7546}" type="slidenum">
              <a:rPr lang="en-IT" smtClean="0"/>
              <a:t>3</a:t>
            </a:fld>
            <a:endParaRPr lang="en-IT"/>
          </a:p>
        </p:txBody>
      </p:sp>
      <p:pic>
        <p:nvPicPr>
          <p:cNvPr id="7" name="Picture 6" descr="Line chart of error in sensitivity indices against real simulations used. Conventional Monte Carlo is 3 to 5 times worse than kriging, polynomial chaos and a neural network, which are tied near the reference noise floor."/>
          <p:cNvPicPr>
            <a:picLocks noChangeAspect="1"/>
          </p:cNvPicPr>
          <p:nvPr/>
        </p:nvPicPr>
        <p:blipFill>
          <a:blip r:embed="rId2"/>
          <a:stretch>
            <a:fillRect/>
          </a:stretch>
        </p:blipFill>
        <p:spPr>
          <a:xfrm>
            <a:off x="841248" y="1828800"/>
            <a:ext cx="5184648" cy="3886200"/>
          </a:xfrm>
          <a:prstGeom prst="rect">
            <a:avLst/>
          </a:prstGeom>
        </p:spPr>
      </p:pic>
      <p:pic>
        <p:nvPicPr>
          <p:cNvPr id="8" name="Picture 7" descr="Leading sensitivity drivers for reflection, coupling and isolation from 45 real runs with 90 percent bootstrap intervals. Board thickness and copper widths A7 and A3 dominate. All nine intervals contain the value from all 540 runs."/>
          <p:cNvPicPr>
            <a:picLocks noChangeAspect="1"/>
          </p:cNvPicPr>
          <p:nvPr/>
        </p:nvPicPr>
        <p:blipFill>
          <a:blip r:embed="rId3"/>
          <a:stretch>
            <a:fillRect/>
          </a:stretch>
        </p:blipFill>
        <p:spPr>
          <a:xfrm>
            <a:off x="6172200" y="1828800"/>
            <a:ext cx="5184648" cy="3886200"/>
          </a:xfrm>
          <a:prstGeom prst="rect">
            <a:avLst/>
          </a:prstGeom>
        </p:spPr>
      </p:pic>
      <p:sp>
        <p:nvSpPr>
          <p:cNvPr id="9" name="TextBox 8"/>
          <p:cNvSpPr txBox="1"/>
          <p:nvPr/>
        </p:nvSpPr>
        <p:spPr>
          <a:xfrm>
            <a:off x="841248" y="5797296"/>
            <a:ext cx="10515600" cy="457200"/>
          </a:xfrm>
          <a:prstGeom prst="rect">
            <a:avLst/>
          </a:prstGeom>
          <a:noFill/>
        </p:spPr>
        <p:txBody>
          <a:bodyPr wrap="square" lIns="0" rIns="0">
            <a:spAutoFit/>
          </a:bodyPr>
          <a:lstStyle/>
          <a:p>
            <a:r>
              <a:rPr sz="1500" b="1">
                <a:solidFill>
                  <a:srgbClr val="D9480F"/>
                </a:solidFill>
              </a:rPr>
              <a:t>At equal runs, conventional Monte Carlo is 3 to 5 times less accurate; the three surrogates tie.</a:t>
            </a:r>
          </a:p>
        </p:txBody>
      </p:sp>
    </p:spTree>
    <p:extLst>
      <p:ext uri="{BB962C8B-B14F-4D97-AF65-F5344CB8AC3E}">
        <p14:creationId xmlns:p14="http://schemas.microsoft.com/office/powerpoint/2010/main" val="4022037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5153E-1120-2C31-4AEA-1B4B1401F7D4}"/>
              </a:ext>
            </a:extLst>
          </p:cNvPr>
          <p:cNvSpPr>
            <a:spLocks noGrp="1"/>
          </p:cNvSpPr>
          <p:nvPr>
            <p:ph type="title"/>
          </p:nvPr>
        </p:nvSpPr>
        <p:spPr/>
        <p:txBody>
          <a:bodyPr/>
          <a:lstStyle/>
          <a:p>
            <a:r>
              <a:rPr sz="2800" b="1"/>
              <a:t>KPI 1 – design search: conventional versus this pipeline</a:t>
            </a:r>
          </a:p>
        </p:txBody>
      </p:sp>
      <p:sp>
        <p:nvSpPr>
          <p:cNvPr id="3" name="Text Placeholder 2">
            <a:extLst>
              <a:ext uri="{FF2B5EF4-FFF2-40B4-BE49-F238E27FC236}">
                <a16:creationId xmlns:a16="http://schemas.microsoft.com/office/drawing/2014/main" id="{52F06AD5-9391-5BAA-670B-695012E07650}"/>
              </a:ext>
            </a:extLst>
          </p:cNvPr>
          <p:cNvSpPr>
            <a:spLocks noGrp="1"/>
          </p:cNvSpPr>
          <p:nvPr>
            <p:ph type="body" idx="1"/>
          </p:nvPr>
        </p:nvSpPr>
        <p:spPr/>
        <p:txBody>
          <a:bodyPr wrap="square"/>
          <a:lstStyle/>
          <a:p>
            <a:pPr>
              <a:spcAft>
                <a:spcPts val="600"/>
              </a:spcAft>
            </a:pPr>
            <a:r>
              <a:rPr sz="1800" b="1">
                <a:solidFill>
                  <a:srgbClr val="3A3D40"/>
                </a:solidFill>
              </a:rPr>
              <a:t>Conventional: solver in the loop</a:t>
            </a:r>
            <a:endParaRPr lang="en-IT"/>
          </a:p>
        </p:txBody>
      </p:sp>
      <p:sp>
        <p:nvSpPr>
          <p:cNvPr id="5" name="Text Placeholder 4">
            <a:extLst>
              <a:ext uri="{FF2B5EF4-FFF2-40B4-BE49-F238E27FC236}">
                <a16:creationId xmlns:a16="http://schemas.microsoft.com/office/drawing/2014/main" id="{93224B5D-75A0-F060-AB02-2EC91546B2CC}"/>
              </a:ext>
            </a:extLst>
          </p:cNvPr>
          <p:cNvSpPr>
            <a:spLocks noGrp="1"/>
          </p:cNvSpPr>
          <p:nvPr>
            <p:ph type="body" sz="quarter" idx="3"/>
          </p:nvPr>
        </p:nvSpPr>
        <p:spPr/>
        <p:txBody>
          <a:bodyPr wrap="square"/>
          <a:lstStyle/>
          <a:p>
            <a:pPr>
              <a:spcAft>
                <a:spcPts val="600"/>
              </a:spcAft>
            </a:pPr>
            <a:r>
              <a:rPr sz="1800" b="1">
                <a:solidFill>
                  <a:srgbClr val="3A3D40"/>
                </a:solidFill>
              </a:rPr>
              <a:t>This pipeline: one 60-run surrogate</a:t>
            </a:r>
            <a:endParaRPr lang="en-IT"/>
          </a:p>
        </p:txBody>
      </p:sp>
      <p:sp>
        <p:nvSpPr>
          <p:cNvPr id="7" name="Footer Placeholder 6">
            <a:extLst>
              <a:ext uri="{FF2B5EF4-FFF2-40B4-BE49-F238E27FC236}">
                <a16:creationId xmlns:a16="http://schemas.microsoft.com/office/drawing/2014/main" id="{67C337C6-6105-A90E-C752-8C220D19233C}"/>
              </a:ext>
            </a:extLst>
          </p:cNvPr>
          <p:cNvSpPr>
            <a:spLocks noGrp="1"/>
          </p:cNvSpPr>
          <p:nvPr>
            <p:ph type="ftr" sz="quarter" idx="11"/>
          </p:nvPr>
        </p:nvSpPr>
        <p:spPr/>
        <p:txBody>
          <a:bodyPr/>
          <a:lstStyle/>
          <a:p>
            <a:r>
              <a:rPr lang="en-IT"/>
              <a:t>HUAWEI TECHARENA 2026</a:t>
            </a:r>
            <a:endParaRPr lang="en-IT" dirty="0"/>
          </a:p>
        </p:txBody>
      </p:sp>
      <p:sp>
        <p:nvSpPr>
          <p:cNvPr id="8" name="Slide Number Placeholder 7">
            <a:extLst>
              <a:ext uri="{FF2B5EF4-FFF2-40B4-BE49-F238E27FC236}">
                <a16:creationId xmlns:a16="http://schemas.microsoft.com/office/drawing/2014/main" id="{6FE8AD99-9FFB-4AD9-BC32-0A7F076B0E94}"/>
              </a:ext>
            </a:extLst>
          </p:cNvPr>
          <p:cNvSpPr>
            <a:spLocks noGrp="1"/>
          </p:cNvSpPr>
          <p:nvPr>
            <p:ph type="sldNum" sz="quarter" idx="12"/>
          </p:nvPr>
        </p:nvSpPr>
        <p:spPr/>
        <p:txBody>
          <a:bodyPr/>
          <a:lstStyle/>
          <a:p>
            <a:fld id="{BD1D32A2-C957-7B4B-85B1-BAB13D3C7546}" type="slidenum">
              <a:rPr lang="en-IT" smtClean="0"/>
              <a:t>4</a:t>
            </a:fld>
            <a:endParaRPr lang="en-IT"/>
          </a:p>
        </p:txBody>
      </p:sp>
      <p:pic>
        <p:nvPicPr>
          <p:cNvPr id="9" name="Picture 8" descr="Conventional cost at 30 minutes per simulation: which errors matter 277 days, how many boards pass 12 days, a design search of 1.92 million evaluations 110 years."/>
          <p:cNvPicPr>
            <a:picLocks noChangeAspect="1"/>
          </p:cNvPicPr>
          <p:nvPr/>
        </p:nvPicPr>
        <p:blipFill>
          <a:blip r:embed="rId2"/>
          <a:stretch>
            <a:fillRect/>
          </a:stretch>
        </p:blipFill>
        <p:spPr>
          <a:xfrm>
            <a:off x="841248" y="2505456"/>
            <a:ext cx="5157216" cy="3246120"/>
          </a:xfrm>
          <a:prstGeom prst="rect">
            <a:avLst/>
          </a:prstGeom>
        </p:spPr>
      </p:pic>
      <p:pic>
        <p:nvPicPr>
          <p:cNvPr id="10" name="Picture 9" descr="This pipeline: which errors matter 15 hours, how many boards pass 20 hours, a design search of 1.92 million surrogate evaluations 30 hours plus 5 minutes, all from one model built on 60 simulations."/>
          <p:cNvPicPr>
            <a:picLocks noChangeAspect="1"/>
          </p:cNvPicPr>
          <p:nvPr/>
        </p:nvPicPr>
        <p:blipFill>
          <a:blip r:embed="rId3"/>
          <a:stretch>
            <a:fillRect/>
          </a:stretch>
        </p:blipFill>
        <p:spPr>
          <a:xfrm>
            <a:off x="6172200" y="2505456"/>
            <a:ext cx="5157216" cy="3246120"/>
          </a:xfrm>
          <a:prstGeom prst="rect">
            <a:avLst/>
          </a:prstGeom>
        </p:spPr>
      </p:pic>
      <p:sp>
        <p:nvSpPr>
          <p:cNvPr id="11" name="TextBox 10"/>
          <p:cNvSpPr txBox="1"/>
          <p:nvPr/>
        </p:nvSpPr>
        <p:spPr>
          <a:xfrm>
            <a:off x="841248" y="5852160"/>
            <a:ext cx="10515600" cy="457200"/>
          </a:xfrm>
          <a:prstGeom prst="rect">
            <a:avLst/>
          </a:prstGeom>
          <a:noFill/>
        </p:spPr>
        <p:txBody>
          <a:bodyPr wrap="square" lIns="0" rIns="0">
            <a:spAutoFit/>
          </a:bodyPr>
          <a:lstStyle/>
          <a:p>
            <a:r>
              <a:rPr sz="1400" b="1">
                <a:solidFill>
                  <a:srgbClr val="D9480F"/>
                </a:solidFill>
              </a:rPr>
              <a:t>Serial times at 30 minutes per run. With 100 solver licences in parallel, the design search alone still takes about a year.</a:t>
            </a:r>
          </a:p>
        </p:txBody>
      </p:sp>
    </p:spTree>
    <p:extLst>
      <p:ext uri="{BB962C8B-B14F-4D97-AF65-F5344CB8AC3E}">
        <p14:creationId xmlns:p14="http://schemas.microsoft.com/office/powerpoint/2010/main" val="3037575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220DD-3FF3-C0E0-9DF7-29E5FE062ABF}"/>
              </a:ext>
            </a:extLst>
          </p:cNvPr>
          <p:cNvSpPr>
            <a:spLocks noGrp="1"/>
          </p:cNvSpPr>
          <p:nvPr>
            <p:ph type="title"/>
          </p:nvPr>
        </p:nvSpPr>
        <p:spPr/>
        <p:txBody>
          <a:bodyPr/>
          <a:lstStyle/>
          <a:p>
            <a:r>
              <a:rPr sz="2600" b="1"/>
              <a:t>Validation: from 30% to 85% of boards passing</a:t>
            </a:r>
          </a:p>
        </p:txBody>
      </p:sp>
      <p:sp>
        <p:nvSpPr>
          <p:cNvPr id="4" name="Text Placeholder 3">
            <a:extLst>
              <a:ext uri="{FF2B5EF4-FFF2-40B4-BE49-F238E27FC236}">
                <a16:creationId xmlns:a16="http://schemas.microsoft.com/office/drawing/2014/main" id="{BC6E9186-D440-0295-B65B-E50FEFECE669}"/>
              </a:ext>
            </a:extLst>
          </p:cNvPr>
          <p:cNvSpPr>
            <a:spLocks noGrp="1"/>
          </p:cNvSpPr>
          <p:nvPr>
            <p:ph type="body" sz="half" idx="2"/>
          </p:nvPr>
        </p:nvSpPr>
        <p:spPr/>
        <p:txBody>
          <a:bodyPr wrap="square"/>
          <a:lstStyle/>
          <a:p>
            <a:pPr>
              <a:spcAft>
                <a:spcPts val="1000"/>
              </a:spcAft>
            </a:pPr>
            <a:r>
              <a:rPr sz="1400" b="0"/>
              <a:t>Each scenario's real boards were held out, the model retrained, and its prediction compared with them: 5 of 5 inside the real interval.</a:t>
            </a:r>
            <a:endParaRPr lang="en-IT"/>
          </a:p>
          <a:p>
            <a:pPr>
              <a:spcAft>
                <a:spcPts val="1000"/>
              </a:spcAft>
            </a:pPr>
            <a:r>
              <a:rPr sz="1400" b="0"/>
              <a:t>Last step: 85% predicted, 73% observed on 30 boards – consistent, not proof.</a:t>
            </a:r>
          </a:p>
          <a:p>
            <a:pPr>
              <a:spcAft>
                <a:spcPts val="1000"/>
              </a:spcAft>
            </a:pPr>
            <a:r>
              <a:rPr sz="1400" b="0"/>
              <a:t>Pass/fail agreement stays 92-97% when the illustrative limits are halved or tripled.</a:t>
            </a:r>
          </a:p>
          <a:p>
            <a:pPr>
              <a:spcAft>
                <a:spcPts val="1000"/>
              </a:spcAft>
            </a:pPr>
            <a:r>
              <a:rPr sz="1400" b="0"/>
              <a:t>Open: model bias, the confidential stack-up, no extra solver runs.</a:t>
            </a:r>
          </a:p>
          <a:p>
            <a:pPr>
              <a:spcBef>
                <a:spcPts val="1000"/>
              </a:spcBef>
            </a:pPr>
            <a:r>
              <a:rPr sz="1500" b="1">
                <a:solidFill>
                  <a:srgbClr val="D9480F"/>
                </a:solidFill>
              </a:rPr>
              <a:t>0 of 734 million predicted matrices break passivity.</a:t>
            </a:r>
          </a:p>
        </p:txBody>
      </p:sp>
      <p:sp>
        <p:nvSpPr>
          <p:cNvPr id="5" name="Footer Placeholder 4">
            <a:extLst>
              <a:ext uri="{FF2B5EF4-FFF2-40B4-BE49-F238E27FC236}">
                <a16:creationId xmlns:a16="http://schemas.microsoft.com/office/drawing/2014/main" id="{1E7DDCDB-96AF-7D95-FE79-EFE5333DF9C0}"/>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DD7EDF57-96BA-9AAC-D024-0A3E577F0338}"/>
              </a:ext>
            </a:extLst>
          </p:cNvPr>
          <p:cNvSpPr>
            <a:spLocks noGrp="1"/>
          </p:cNvSpPr>
          <p:nvPr>
            <p:ph type="sldNum" sz="quarter" idx="12"/>
          </p:nvPr>
        </p:nvSpPr>
        <p:spPr/>
        <p:txBody>
          <a:bodyPr/>
          <a:lstStyle/>
          <a:p>
            <a:fld id="{BD1D32A2-C957-7B4B-85B1-BAB13D3C7546}" type="slidenum">
              <a:rPr lang="en-IT" smtClean="0"/>
              <a:t>5</a:t>
            </a:fld>
            <a:endParaRPr lang="en-IT"/>
          </a:p>
        </p:txBody>
      </p:sp>
      <p:pic>
        <p:nvPicPr>
          <p:cNvPr id="7" name="Picture 6" descr="Bar chart of boards passing under stated limits, from the full-curve model retrained without each scenario's boards: today 30 percent, new laminate 47, plus copper width A7 tolerance halved 57, plus board thickness tolerance halved 65, plus copper width A3 tolerance halved 85. The real boards in each scenario give 28, 43, 54, 63 and 73 percent with intervals that contain every prediction."/>
          <p:cNvPicPr>
            <a:picLocks noChangeAspect="1"/>
          </p:cNvPicPr>
          <p:nvPr/>
        </p:nvPicPr>
        <p:blipFill>
          <a:blip r:embed="rId2"/>
          <a:stretch>
            <a:fillRect/>
          </a:stretch>
        </p:blipFill>
        <p:spPr>
          <a:xfrm>
            <a:off x="5184648" y="987552"/>
            <a:ext cx="6172200" cy="4873752"/>
          </a:xfrm>
          <a:prstGeom prst="rect">
            <a:avLst/>
          </a:prstGeom>
        </p:spPr>
      </p:pic>
    </p:spTree>
    <p:extLst>
      <p:ext uri="{BB962C8B-B14F-4D97-AF65-F5344CB8AC3E}">
        <p14:creationId xmlns:p14="http://schemas.microsoft.com/office/powerpoint/2010/main" val="1590582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CD2BB-2FBF-CB54-2FA5-90D38F44B392}"/>
              </a:ext>
            </a:extLst>
          </p:cNvPr>
          <p:cNvSpPr>
            <a:spLocks noGrp="1"/>
          </p:cNvSpPr>
          <p:nvPr>
            <p:ph type="title"/>
          </p:nvPr>
        </p:nvSpPr>
        <p:spPr/>
        <p:txBody>
          <a:bodyPr>
            <a:normAutofit fontScale="90000"/>
          </a:bodyPr>
          <a:lstStyle/>
          <a:p>
            <a:r>
              <a:rPr sz="2800" b="1"/>
              <a:t>Project folder</a:t>
            </a:r>
            <a:endParaRPr lang="en-IT" dirty="0"/>
          </a:p>
        </p:txBody>
      </p:sp>
      <p:sp>
        <p:nvSpPr>
          <p:cNvPr id="4" name="Text Placeholder 3">
            <a:extLst>
              <a:ext uri="{FF2B5EF4-FFF2-40B4-BE49-F238E27FC236}">
                <a16:creationId xmlns:a16="http://schemas.microsoft.com/office/drawing/2014/main" id="{ACBFCE97-20DE-0620-DC63-0DEA973E44B2}"/>
              </a:ext>
            </a:extLst>
          </p:cNvPr>
          <p:cNvSpPr>
            <a:spLocks noGrp="1"/>
          </p:cNvSpPr>
          <p:nvPr>
            <p:ph type="body" sz="half" idx="2"/>
          </p:nvPr>
        </p:nvSpPr>
        <p:spPr/>
        <p:txBody>
          <a:bodyPr wrap="square"/>
          <a:lstStyle/>
          <a:p>
            <a:pPr>
              <a:spcAft>
                <a:spcPts val="1000"/>
              </a:spcAft>
            </a:pPr>
            <a:r>
              <a:rPr sz="1600" b="0"/>
              <a:t>Scan to open the full material</a:t>
            </a:r>
            <a:endParaRPr lang="en-IT"/>
          </a:p>
          <a:p>
            <a:pPr>
              <a:spcAft>
                <a:spcPts val="1000"/>
              </a:spcAft>
            </a:pPr>
            <a:r>
              <a:rPr sz="1600" b="0"/>
              <a:t>README: pipeline, evidence and limitations</a:t>
            </a:r>
          </a:p>
          <a:p>
            <a:pPr>
              <a:spcAft>
                <a:spcPts val="1000"/>
              </a:spcAft>
            </a:pPr>
            <a:r>
              <a:rPr sz="1600" b="0"/>
              <a:t>Code that reproduces every number</a:t>
            </a:r>
          </a:p>
          <a:p>
            <a:pPr>
              <a:spcAft>
                <a:spcPts val="1000"/>
              </a:spcAft>
            </a:pPr>
            <a:r>
              <a:rPr sz="1600" b="0"/>
              <a:t>Figures and the architecture report</a:t>
            </a:r>
          </a:p>
        </p:txBody>
      </p:sp>
      <p:sp>
        <p:nvSpPr>
          <p:cNvPr id="5" name="Footer Placeholder 4">
            <a:extLst>
              <a:ext uri="{FF2B5EF4-FFF2-40B4-BE49-F238E27FC236}">
                <a16:creationId xmlns:a16="http://schemas.microsoft.com/office/drawing/2014/main" id="{D2413D42-14FC-6E96-EAE8-45D8843C13E4}"/>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0F978F75-8ADB-B57A-3E89-D1A803C59F01}"/>
              </a:ext>
            </a:extLst>
          </p:cNvPr>
          <p:cNvSpPr>
            <a:spLocks noGrp="1"/>
          </p:cNvSpPr>
          <p:nvPr>
            <p:ph type="sldNum" sz="quarter" idx="12"/>
          </p:nvPr>
        </p:nvSpPr>
        <p:spPr/>
        <p:txBody>
          <a:bodyPr/>
          <a:lstStyle/>
          <a:p>
            <a:fld id="{BD1D32A2-C957-7B4B-85B1-BAB13D3C7546}" type="slidenum">
              <a:rPr lang="en-IT" smtClean="0"/>
              <a:t>6</a:t>
            </a:fld>
            <a:endParaRPr lang="en-IT"/>
          </a:p>
        </p:txBody>
      </p:sp>
      <p:sp>
        <p:nvSpPr>
          <p:cNvPr id="7" name="QR_PLACEHOLDER"/>
          <p:cNvSpPr/>
          <p:nvPr/>
        </p:nvSpPr>
        <p:spPr>
          <a:xfrm>
            <a:off x="6665976" y="1499616"/>
            <a:ext cx="4114800" cy="3803904"/>
          </a:xfrm>
          <a:prstGeom prst="roundRect">
            <a:avLst/>
          </a:prstGeom>
          <a:noFill/>
          <a:ln w="25400">
            <a:solidFill>
              <a:srgbClr val="6B7378"/>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6B7378"/>
                </a:solidFill>
              </a:rPr>
              <a:t>QR code goes here</a:t>
            </a:r>
          </a:p>
          <a:p>
            <a:pPr algn="ctr"/>
            <a:r>
              <a:rPr sz="1400">
                <a:solidFill>
                  <a:srgbClr val="6B7378"/>
                </a:solidFill>
              </a:rPr>
              <a:t>run insert_qr.py with your folder link</a:t>
            </a:r>
          </a:p>
        </p:txBody>
      </p:sp>
    </p:spTree>
    <p:extLst>
      <p:ext uri="{BB962C8B-B14F-4D97-AF65-F5344CB8AC3E}">
        <p14:creationId xmlns:p14="http://schemas.microsoft.com/office/powerpoint/2010/main" val="2819410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DD9B0-0DF2-0C26-C3B3-42FC0897C99E}"/>
              </a:ext>
            </a:extLst>
          </p:cNvPr>
          <p:cNvSpPr>
            <a:spLocks noGrp="1"/>
          </p:cNvSpPr>
          <p:nvPr>
            <p:ph type="ctrTitle"/>
          </p:nvPr>
        </p:nvSpPr>
        <p:spPr>
          <a:xfrm>
            <a:off x="1524000" y="3490622"/>
            <a:ext cx="9144000" cy="703153"/>
          </a:xfrm>
        </p:spPr>
        <p:txBody>
          <a:bodyPr/>
          <a:lstStyle/>
          <a:p>
            <a:r>
              <a:rPr sz="4000" b="1"/>
              <a:t>THANK YOU</a:t>
            </a:r>
            <a:endParaRPr lang="en-IT" dirty="0"/>
          </a:p>
        </p:txBody>
      </p:sp>
      <p:sp>
        <p:nvSpPr>
          <p:cNvPr id="3" name="TextBox 2"/>
          <p:cNvSpPr txBox="1"/>
          <p:nvPr/>
        </p:nvSpPr>
        <p:spPr>
          <a:xfrm>
            <a:off x="1097280" y="4892040"/>
            <a:ext cx="9994392" cy="914400"/>
          </a:xfrm>
          <a:prstGeom prst="rect">
            <a:avLst/>
          </a:prstGeom>
          <a:noFill/>
        </p:spPr>
        <p:txBody>
          <a:bodyPr wrap="square">
            <a:spAutoFit/>
          </a:bodyPr>
          <a:lstStyle/>
          <a:p>
            <a:pPr algn="ctr"/>
            <a:r>
              <a:rPr sz="1600" b="1">
                <a:solidFill>
                  <a:srgbClr val="D9480F"/>
                </a:solidFill>
              </a:rPr>
              <a:t>From 277 days of solver time to 15 hours – with the physics checked on every prediction.</a:t>
            </a:r>
          </a:p>
          <a:p>
            <a:pPr algn="ctr"/>
            <a:r>
              <a:rPr sz="1300">
                <a:solidFill>
                  <a:srgbClr val="6B7378"/>
                </a:solidFill>
              </a:rPr>
              <a:t>60 solver runs  ·  exact sensitivity analysis  ·  pass rates confirmed on held-out real boards</a:t>
            </a:r>
          </a:p>
        </p:txBody>
      </p:sp>
    </p:spTree>
    <p:extLst>
      <p:ext uri="{BB962C8B-B14F-4D97-AF65-F5344CB8AC3E}">
        <p14:creationId xmlns:p14="http://schemas.microsoft.com/office/powerpoint/2010/main" val="142308898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000" b="1"/>
              <a:t>One tolerance study costs months of solver time</a:t>
            </a:r>
          </a:p>
        </p:txBody>
      </p:sp>
      <p:pic>
        <p:nvPicPr>
          <p:cNvPr id="3" name="Picture 2" descr="Four figures: one full-wave simulation takes 30 minutes; a sensitivity analysis on the solver needs 13,312 runs, 277 days; a design search on the solver needs 1.92 million runs, 110 years; the design margin today is 0.25 to 0.40 dB against 1.3 dB of factory spread."/>
          <p:cNvPicPr>
            <a:picLocks noChangeAspect="1"/>
          </p:cNvPicPr>
          <p:nvPr/>
        </p:nvPicPr>
        <p:blipFill>
          <a:blip r:embed="rId2"/>
          <a:stretch>
            <a:fillRect/>
          </a:stretch>
        </p:blipFill>
        <p:spPr>
          <a:xfrm>
            <a:off x="841248" y="1828800"/>
            <a:ext cx="10515600" cy="3017520"/>
          </a:xfrm>
          <a:prstGeom prst="rect">
            <a:avLst/>
          </a:prstGeom>
        </p:spPr>
      </p:pic>
      <p:sp>
        <p:nvSpPr>
          <p:cNvPr id="4" name="TextBox 3"/>
          <p:cNvSpPr txBox="1"/>
          <p:nvPr/>
        </p:nvSpPr>
        <p:spPr>
          <a:xfrm>
            <a:off x="841248" y="5257800"/>
            <a:ext cx="10515600" cy="457200"/>
          </a:xfrm>
          <a:prstGeom prst="rect">
            <a:avLst/>
          </a:prstGeom>
          <a:noFill/>
        </p:spPr>
        <p:txBody>
          <a:bodyPr wrap="square" lIns="0" rIns="0">
            <a:spAutoFit/>
          </a:bodyPr>
          <a:lstStyle/>
          <a:p>
            <a:r>
              <a:rPr sz="1700" b="1">
                <a:solidFill>
                  <a:srgbClr val="D9480F"/>
                </a:solidFill>
              </a:rPr>
              <a:t>Only 3 in 10 boards pass today, and finding out why with the solver alone is not affordable.</a:t>
            </a:r>
          </a:p>
        </p:txBody>
      </p:sp>
      <p:sp>
        <p:nvSpPr>
          <p:cNvPr id="5" name="Footer Placeholder 4">
            <a:extLst>
              <a:ext uri="{FF2B5EF4-FFF2-40B4-BE49-F238E27FC236}">
                <a16:creationId xmlns:a16="http://schemas.microsoft.com/office/drawing/2014/main" id="{22705DEC-8C8F-A165-FAED-A7E6C23BC94F}"/>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FC1F5359-E2C6-65B4-8891-E32AAECE2121}"/>
              </a:ext>
            </a:extLst>
          </p:cNvPr>
          <p:cNvSpPr>
            <a:spLocks noGrp="1"/>
          </p:cNvSpPr>
          <p:nvPr>
            <p:ph type="sldNum" sz="quarter" idx="12"/>
          </p:nvPr>
        </p:nvSpPr>
        <p:spPr/>
        <p:txBody>
          <a:bodyPr/>
          <a:lstStyle/>
          <a:p>
            <a:fld id="{BD1D32A2-C957-7B4B-85B1-BAB13D3C7546}" type="slidenum">
              <a:rPr lang="en-IT" smtClean="0"/>
              <a:t>2</a:t>
            </a:fld>
            <a:endParaRPr lang="en-IT"/>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t>State of the art, and where this differs</a:t>
            </a:r>
          </a:p>
        </p:txBody>
      </p:sp>
      <p:pic>
        <p:nvPicPr>
          <p:cNvPr id="3" name="Picture 2" descr="Comparison table, common practice versus this project. Surrogate: kriging is used in about a third of RF surrogate studies; here it is checked against polynomial chaos and a neural network. Output: the literature compresses the response first; here PCA raised the error 2.8 times, so all 3,012 outputs are predicted. Physics: physics-informed networks need field data; only port data exists, so reciprocity is built in and passivity checked on 734 million matrices. Sensitivity: closed-form GP Sobol indices are known; here applied to 11 manufacturing tolerances, top drivers right from 30 runs. Yield: GP-assisted Monte Carlo re-checks boards in the solver; here no extra runs were allowed, so pass rates are checked against held-out real boards."/>
          <p:cNvPicPr>
            <a:picLocks noChangeAspect="1"/>
          </p:cNvPicPr>
          <p:nvPr/>
        </p:nvPicPr>
        <p:blipFill>
          <a:blip r:embed="rId2"/>
          <a:stretch>
            <a:fillRect/>
          </a:stretch>
        </p:blipFill>
        <p:spPr>
          <a:xfrm>
            <a:off x="841248" y="1600200"/>
            <a:ext cx="10515600" cy="3246120"/>
          </a:xfrm>
          <a:prstGeom prst="rect">
            <a:avLst/>
          </a:prstGeom>
        </p:spPr>
      </p:pic>
      <p:sp>
        <p:nvSpPr>
          <p:cNvPr id="4" name="TextBox 3"/>
          <p:cNvSpPr txBox="1"/>
          <p:nvPr/>
        </p:nvSpPr>
        <p:spPr>
          <a:xfrm>
            <a:off x="841248" y="5029200"/>
            <a:ext cx="5760720" cy="1097280"/>
          </a:xfrm>
          <a:prstGeom prst="rect">
            <a:avLst/>
          </a:prstGeom>
          <a:noFill/>
        </p:spPr>
        <p:txBody>
          <a:bodyPr wrap="square" lIns="0" rIns="0">
            <a:spAutoFit/>
          </a:bodyPr>
          <a:lstStyle/>
          <a:p>
            <a:pPr>
              <a:spcAft>
                <a:spcPts val="200"/>
              </a:spcAft>
            </a:pPr>
            <a:r>
              <a:rPr sz="1000">
                <a:solidFill>
                  <a:srgbClr val="6B7378"/>
                </a:solidFill>
              </a:rPr>
              <a:t>[1] Oakley &amp; O'Hagan (2004), J. R. Stat. Soc. B 66(3)</a:t>
            </a:r>
          </a:p>
          <a:p>
            <a:pPr>
              <a:spcAft>
                <a:spcPts val="200"/>
              </a:spcAft>
            </a:pPr>
            <a:r>
              <a:rPr sz="1000">
                <a:solidFill>
                  <a:srgbClr val="6B7378"/>
                </a:solidFill>
              </a:rPr>
              <a:t>[2] Marrel et al. (2009), Reliab. Eng. Syst. Saf. 94(3)</a:t>
            </a:r>
          </a:p>
          <a:p>
            <a:pPr>
              <a:spcAft>
                <a:spcPts val="200"/>
              </a:spcAft>
            </a:pPr>
            <a:r>
              <a:rPr sz="1000">
                <a:solidFill>
                  <a:srgbClr val="6B7378"/>
                </a:solidFill>
              </a:rPr>
              <a:t>[3] Le Gratiet, Cannamela &amp; Iooss (2014), SIAM/ASA J. Uncertain. Quantif.</a:t>
            </a:r>
          </a:p>
          <a:p>
            <a:pPr>
              <a:spcAft>
                <a:spcPts val="200"/>
              </a:spcAft>
            </a:pPr>
            <a:r>
              <a:rPr sz="1000">
                <a:solidFill>
                  <a:srgbClr val="6B7378"/>
                </a:solidFill>
              </a:rPr>
              <a:t>[4] Systematic review, surrogate-based EM design of RF components (2026), Sensors 26(8):2504</a:t>
            </a:r>
          </a:p>
        </p:txBody>
      </p:sp>
      <p:sp>
        <p:nvSpPr>
          <p:cNvPr id="5" name="TextBox 4"/>
          <p:cNvSpPr txBox="1"/>
          <p:nvPr/>
        </p:nvSpPr>
        <p:spPr>
          <a:xfrm>
            <a:off x="6812280" y="5029200"/>
            <a:ext cx="4544568" cy="1097280"/>
          </a:xfrm>
          <a:prstGeom prst="rect">
            <a:avLst/>
          </a:prstGeom>
          <a:noFill/>
        </p:spPr>
        <p:txBody>
          <a:bodyPr wrap="square" lIns="0" rIns="0">
            <a:spAutoFit/>
          </a:bodyPr>
          <a:lstStyle/>
          <a:p>
            <a:pPr>
              <a:spcAft>
                <a:spcPts val="200"/>
              </a:spcAft>
            </a:pPr>
            <a:r>
              <a:rPr sz="1000">
                <a:solidFill>
                  <a:srgbClr val="6B7378"/>
                </a:solidFill>
              </a:rPr>
              <a:t>[5] Kersaudy et al. (2015), J. Comput. Phys. 286:103-117</a:t>
            </a:r>
          </a:p>
          <a:p>
            <a:pPr>
              <a:spcAft>
                <a:spcPts val="200"/>
              </a:spcAft>
            </a:pPr>
            <a:r>
              <a:rPr sz="1000">
                <a:solidFill>
                  <a:srgbClr val="6B7378"/>
                </a:solidFill>
              </a:rPr>
              <a:t>[6] Khan &amp; Lowther (2022), IEEE Trans. Magn. 58(9)</a:t>
            </a:r>
          </a:p>
          <a:p>
            <a:pPr>
              <a:spcAft>
                <a:spcPts val="200"/>
              </a:spcAft>
            </a:pPr>
            <a:r>
              <a:rPr sz="1000">
                <a:solidFill>
                  <a:srgbClr val="6B7378"/>
                </a:solidFill>
              </a:rPr>
              <a:t>[7] Fuhrländer &amp; Schöps (2020), J. Math. Ind. 10</a:t>
            </a:r>
          </a:p>
        </p:txBody>
      </p:sp>
      <p:sp>
        <p:nvSpPr>
          <p:cNvPr id="5" name="Footer Placeholder 4">
            <a:extLst>
              <a:ext uri="{FF2B5EF4-FFF2-40B4-BE49-F238E27FC236}">
                <a16:creationId xmlns:a16="http://schemas.microsoft.com/office/drawing/2014/main" id="{22705DEC-8C8F-A165-FAED-A7E6C23BC94F}"/>
              </a:ext>
            </a:extLst>
          </p:cNvPr>
          <p:cNvSpPr>
            <a:spLocks noGrp="1"/>
          </p:cNvSpPr>
          <p:nvPr>
            <p:ph type="ftr" sz="quarter" idx="11"/>
          </p:nvPr>
        </p:nvSpPr>
        <p:spPr/>
        <p:txBody>
          <a:bodyPr/>
          <a:lstStyle/>
          <a:p>
            <a:r>
              <a:rPr lang="en-IT"/>
              <a:t>HUAWEI TECHARENA 2026</a:t>
            </a:r>
            <a:endParaRPr lang="en-IT" dirty="0"/>
          </a:p>
        </p:txBody>
      </p:sp>
      <p:sp>
        <p:nvSpPr>
          <p:cNvPr id="6" name="Slide Number Placeholder 5">
            <a:extLst>
              <a:ext uri="{FF2B5EF4-FFF2-40B4-BE49-F238E27FC236}">
                <a16:creationId xmlns:a16="http://schemas.microsoft.com/office/drawing/2014/main" id="{FC1F5359-E2C6-65B4-8891-E32AAECE2121}"/>
              </a:ext>
            </a:extLst>
          </p:cNvPr>
          <p:cNvSpPr>
            <a:spLocks noGrp="1"/>
          </p:cNvSpPr>
          <p:nvPr>
            <p:ph type="sldNum" sz="quarter" idx="12"/>
          </p:nvPr>
        </p:nvSpPr>
        <p:spPr/>
        <p:txBody>
          <a:bodyPr/>
          <a:lstStyle/>
          <a:p>
            <a:fld id="{BD1D32A2-C957-7B4B-85B1-BAB13D3C7546}" type="slidenum">
              <a:rPr lang="en-IT" smtClean="0"/>
              <a:t>2</a:t>
            </a:fld>
            <a:endParaRPr lang="en-IT"/>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32</Words>
  <Application>Microsoft Office PowerPoint</Application>
  <PresentationFormat>Widescreen</PresentationFormat>
  <Paragraphs>14</Paragraphs>
  <Slides>7</Slides>
  <Notes>0</Notes>
  <HiddenSlides>0</HiddenSlides>
  <MMClips>0</MMClips>
  <ScaleCrop>false</ScaleCrop>
  <HeadingPairs>
    <vt:vector size="4" baseType="variant">
      <vt:variant>
        <vt:lpstr>Tema</vt:lpstr>
      </vt:variant>
      <vt:variant>
        <vt:i4>1</vt:i4>
      </vt:variant>
      <vt:variant>
        <vt:lpstr>Titoli diapositive</vt:lpstr>
      </vt:variant>
      <vt:variant>
        <vt:i4>7</vt:i4>
      </vt:variant>
    </vt:vector>
  </HeadingPairs>
  <TitlesOfParts>
    <vt:vector size="8" baseType="lpstr">
      <vt:lpstr>Office Theme</vt:lpstr>
      <vt:lpstr>Presentazione standard di PowerPoint</vt:lpstr>
      <vt:lpstr>Title And Content</vt:lpstr>
      <vt:lpstr>Title, content and picture</vt:lpstr>
      <vt:lpstr>Comparison</vt:lpstr>
      <vt:lpstr>Content with picture</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Vincenzo Franco</dc:creator>
  <cp:lastModifiedBy>Pietro Tuttobene</cp:lastModifiedBy>
  <cp:revision>7</cp:revision>
  <dcterms:created xsi:type="dcterms:W3CDTF">2024-09-26T09:51:43Z</dcterms:created>
  <dcterms:modified xsi:type="dcterms:W3CDTF">2026-06-18T09:33:23Z</dcterms:modified>
</cp:coreProperties>
</file>